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5" r:id="rId6"/>
    <p:sldId id="266" r:id="rId7"/>
    <p:sldId id="267" r:id="rId8"/>
    <p:sldId id="261" r:id="rId9"/>
    <p:sldId id="268" r:id="rId10"/>
    <p:sldId id="269" r:id="rId11"/>
    <p:sldId id="262" r:id="rId12"/>
    <p:sldId id="270" r:id="rId13"/>
    <p:sldId id="271" r:id="rId14"/>
    <p:sldId id="272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41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1B4A9C-1405-3A48-8999-E3BE18FF7BC6}" v="35" dt="2026-01-25T16:54:33.123"/>
    <p1510:client id="{5A0BC164-C393-6AD3-DC8D-FAC10B791B51}" v="8" dt="2026-01-25T16:44:16.4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1636" autoAdjust="0"/>
  </p:normalViewPr>
  <p:slideViewPr>
    <p:cSldViewPr snapToGrid="0" snapToObjects="1">
      <p:cViewPr varScale="1">
        <p:scale>
          <a:sx n="73" d="100"/>
          <a:sy n="73" d="100"/>
        </p:scale>
        <p:origin x="979" y="28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474A6B-DDA2-48AC-9B74-ADFAFC3F73C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04EFB97-0A67-45DD-B4E5-DBEE876A8DD4}">
      <dgm:prSet/>
      <dgm:spPr/>
      <dgm:t>
        <a:bodyPr/>
        <a:lstStyle/>
        <a:p>
          <a:r>
            <a:rPr lang="en-US"/>
            <a:t>Humanitarian budgets span multiple countries, clusters, and donors</a:t>
          </a:r>
        </a:p>
      </dgm:t>
    </dgm:pt>
    <dgm:pt modelId="{8B3BDA9B-F8B6-4747-BBDC-DD1E2EDE1C90}" type="parTrans" cxnId="{A2CA6D6D-027C-4D0D-9DB0-1CAA65783137}">
      <dgm:prSet/>
      <dgm:spPr/>
      <dgm:t>
        <a:bodyPr/>
        <a:lstStyle/>
        <a:p>
          <a:endParaRPr lang="en-US"/>
        </a:p>
      </dgm:t>
    </dgm:pt>
    <dgm:pt modelId="{D5241842-D380-4B21-B1B3-BE59375AD74D}" type="sibTrans" cxnId="{A2CA6D6D-027C-4D0D-9DB0-1CAA65783137}">
      <dgm:prSet/>
      <dgm:spPr/>
      <dgm:t>
        <a:bodyPr/>
        <a:lstStyle/>
        <a:p>
          <a:endParaRPr lang="en-US"/>
        </a:p>
      </dgm:t>
    </dgm:pt>
    <dgm:pt modelId="{9A6DA64C-782A-46DA-A7CC-B038590E12A8}">
      <dgm:prSet/>
      <dgm:spPr/>
      <dgm:t>
        <a:bodyPr/>
        <a:lstStyle/>
        <a:p>
          <a:r>
            <a:rPr lang="en-US"/>
            <a:t>Efficiency comparison is hindered by scale, geography, and program diversity</a:t>
          </a:r>
        </a:p>
      </dgm:t>
    </dgm:pt>
    <dgm:pt modelId="{9F9D2469-903D-48B6-A302-DEDD28B760D1}" type="parTrans" cxnId="{419FFFFB-4784-4094-B027-031A839E0E85}">
      <dgm:prSet/>
      <dgm:spPr/>
      <dgm:t>
        <a:bodyPr/>
        <a:lstStyle/>
        <a:p>
          <a:endParaRPr lang="en-US"/>
        </a:p>
      </dgm:t>
    </dgm:pt>
    <dgm:pt modelId="{3A7BC62C-49F0-4C19-B9B9-1AB63C0B3B1B}" type="sibTrans" cxnId="{419FFFFB-4784-4094-B027-031A839E0E85}">
      <dgm:prSet/>
      <dgm:spPr/>
      <dgm:t>
        <a:bodyPr/>
        <a:lstStyle/>
        <a:p>
          <a:endParaRPr lang="en-US"/>
        </a:p>
      </dgm:t>
    </dgm:pt>
    <dgm:pt modelId="{8433DB9F-0281-454A-9194-397612DEAE1D}">
      <dgm:prSet/>
      <dgm:spPr/>
      <dgm:t>
        <a:bodyPr/>
        <a:lstStyle/>
        <a:p>
          <a:r>
            <a:rPr lang="en-US"/>
            <a:t>A standardized, transparent efficiency metric is needed</a:t>
          </a:r>
        </a:p>
      </dgm:t>
    </dgm:pt>
    <dgm:pt modelId="{280208AA-1877-4DFE-A630-49DA9C31681D}" type="parTrans" cxnId="{C0933BB1-FFF0-4859-8E52-E94FAAA35ACE}">
      <dgm:prSet/>
      <dgm:spPr/>
      <dgm:t>
        <a:bodyPr/>
        <a:lstStyle/>
        <a:p>
          <a:endParaRPr lang="en-US"/>
        </a:p>
      </dgm:t>
    </dgm:pt>
    <dgm:pt modelId="{EA59F7DD-F2A2-4DB5-8C50-2CF2BF186707}" type="sibTrans" cxnId="{C0933BB1-FFF0-4859-8E52-E94FAAA35ACE}">
      <dgm:prSet/>
      <dgm:spPr/>
      <dgm:t>
        <a:bodyPr/>
        <a:lstStyle/>
        <a:p>
          <a:endParaRPr lang="en-US"/>
        </a:p>
      </dgm:t>
    </dgm:pt>
    <dgm:pt modelId="{36D7BB37-B567-714F-89B9-48C4B8FA7123}" type="pres">
      <dgm:prSet presAssocID="{FC474A6B-DDA2-48AC-9B74-ADFAFC3F73C3}" presName="linear" presStyleCnt="0">
        <dgm:presLayoutVars>
          <dgm:animLvl val="lvl"/>
          <dgm:resizeHandles val="exact"/>
        </dgm:presLayoutVars>
      </dgm:prSet>
      <dgm:spPr/>
    </dgm:pt>
    <dgm:pt modelId="{D6CE8502-1F33-2948-9D54-EA753CB30C3C}" type="pres">
      <dgm:prSet presAssocID="{E04EFB97-0A67-45DD-B4E5-DBEE876A8DD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39A5BFA-A5DB-5844-98D4-EB48740B46D2}" type="pres">
      <dgm:prSet presAssocID="{D5241842-D380-4B21-B1B3-BE59375AD74D}" presName="spacer" presStyleCnt="0"/>
      <dgm:spPr/>
    </dgm:pt>
    <dgm:pt modelId="{665B12DE-410B-CE41-8F0B-3BBF00470CA4}" type="pres">
      <dgm:prSet presAssocID="{9A6DA64C-782A-46DA-A7CC-B038590E12A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4FEFE2B-C27F-F741-875D-9D9F04236F34}" type="pres">
      <dgm:prSet presAssocID="{3A7BC62C-49F0-4C19-B9B9-1AB63C0B3B1B}" presName="spacer" presStyleCnt="0"/>
      <dgm:spPr/>
    </dgm:pt>
    <dgm:pt modelId="{BFDF205F-B563-0646-8948-BA0113BE271D}" type="pres">
      <dgm:prSet presAssocID="{8433DB9F-0281-454A-9194-397612DEAE1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1108114-C8FE-1244-A393-26FE083749AF}" type="presOf" srcId="{9A6DA64C-782A-46DA-A7CC-B038590E12A8}" destId="{665B12DE-410B-CE41-8F0B-3BBF00470CA4}" srcOrd="0" destOrd="0" presId="urn:microsoft.com/office/officeart/2005/8/layout/vList2"/>
    <dgm:cxn modelId="{A2CA6D6D-027C-4D0D-9DB0-1CAA65783137}" srcId="{FC474A6B-DDA2-48AC-9B74-ADFAFC3F73C3}" destId="{E04EFB97-0A67-45DD-B4E5-DBEE876A8DD4}" srcOrd="0" destOrd="0" parTransId="{8B3BDA9B-F8B6-4747-BBDC-DD1E2EDE1C90}" sibTransId="{D5241842-D380-4B21-B1B3-BE59375AD74D}"/>
    <dgm:cxn modelId="{795AF64F-DF53-1F42-A058-D47F961390AB}" type="presOf" srcId="{E04EFB97-0A67-45DD-B4E5-DBEE876A8DD4}" destId="{D6CE8502-1F33-2948-9D54-EA753CB30C3C}" srcOrd="0" destOrd="0" presId="urn:microsoft.com/office/officeart/2005/8/layout/vList2"/>
    <dgm:cxn modelId="{C0933BB1-FFF0-4859-8E52-E94FAAA35ACE}" srcId="{FC474A6B-DDA2-48AC-9B74-ADFAFC3F73C3}" destId="{8433DB9F-0281-454A-9194-397612DEAE1D}" srcOrd="2" destOrd="0" parTransId="{280208AA-1877-4DFE-A630-49DA9C31681D}" sibTransId="{EA59F7DD-F2A2-4DB5-8C50-2CF2BF186707}"/>
    <dgm:cxn modelId="{7434C6BD-0F43-C546-8F5C-893B1CC8B57F}" type="presOf" srcId="{8433DB9F-0281-454A-9194-397612DEAE1D}" destId="{BFDF205F-B563-0646-8948-BA0113BE271D}" srcOrd="0" destOrd="0" presId="urn:microsoft.com/office/officeart/2005/8/layout/vList2"/>
    <dgm:cxn modelId="{419FFFFB-4784-4094-B027-031A839E0E85}" srcId="{FC474A6B-DDA2-48AC-9B74-ADFAFC3F73C3}" destId="{9A6DA64C-782A-46DA-A7CC-B038590E12A8}" srcOrd="1" destOrd="0" parTransId="{9F9D2469-903D-48B6-A302-DEDD28B760D1}" sibTransId="{3A7BC62C-49F0-4C19-B9B9-1AB63C0B3B1B}"/>
    <dgm:cxn modelId="{C462A1FF-63F7-F74B-AD14-BD1012BC73CD}" type="presOf" srcId="{FC474A6B-DDA2-48AC-9B74-ADFAFC3F73C3}" destId="{36D7BB37-B567-714F-89B9-48C4B8FA7123}" srcOrd="0" destOrd="0" presId="urn:microsoft.com/office/officeart/2005/8/layout/vList2"/>
    <dgm:cxn modelId="{D685D22D-8BCD-614E-9A7F-86ECAE20424D}" type="presParOf" srcId="{36D7BB37-B567-714F-89B9-48C4B8FA7123}" destId="{D6CE8502-1F33-2948-9D54-EA753CB30C3C}" srcOrd="0" destOrd="0" presId="urn:microsoft.com/office/officeart/2005/8/layout/vList2"/>
    <dgm:cxn modelId="{0535C350-FC43-494B-9324-9026FD7F9F48}" type="presParOf" srcId="{36D7BB37-B567-714F-89B9-48C4B8FA7123}" destId="{B39A5BFA-A5DB-5844-98D4-EB48740B46D2}" srcOrd="1" destOrd="0" presId="urn:microsoft.com/office/officeart/2005/8/layout/vList2"/>
    <dgm:cxn modelId="{74DA2379-C301-A04C-BF2C-0AF90139EB4E}" type="presParOf" srcId="{36D7BB37-B567-714F-89B9-48C4B8FA7123}" destId="{665B12DE-410B-CE41-8F0B-3BBF00470CA4}" srcOrd="2" destOrd="0" presId="urn:microsoft.com/office/officeart/2005/8/layout/vList2"/>
    <dgm:cxn modelId="{B4E60EEC-8677-A542-B925-5ABCD7B586BD}" type="presParOf" srcId="{36D7BB37-B567-714F-89B9-48C4B8FA7123}" destId="{14FEFE2B-C27F-F741-875D-9D9F04236F34}" srcOrd="3" destOrd="0" presId="urn:microsoft.com/office/officeart/2005/8/layout/vList2"/>
    <dgm:cxn modelId="{0A27509B-7F06-454D-A722-74FFDD776287}" type="presParOf" srcId="{36D7BB37-B567-714F-89B9-48C4B8FA7123}" destId="{BFDF205F-B563-0646-8948-BA0113BE271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51B20F-6E64-443F-BF41-751E01B82E3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24F8ED6-434E-4474-A73A-01CAE1E62DEA}">
      <dgm:prSet/>
      <dgm:spPr/>
      <dgm:t>
        <a:bodyPr/>
        <a:lstStyle/>
        <a:p>
          <a:r>
            <a:rPr lang="en-US"/>
            <a:t>Datasets: CERF allocations, CERF donor contributions, CBPF project data</a:t>
          </a:r>
        </a:p>
      </dgm:t>
    </dgm:pt>
    <dgm:pt modelId="{9454AA34-D0EE-481C-9B1B-7453FFDDF551}" type="parTrans" cxnId="{A6D6E370-9140-4821-B827-CA21BC2DD8AF}">
      <dgm:prSet/>
      <dgm:spPr/>
      <dgm:t>
        <a:bodyPr/>
        <a:lstStyle/>
        <a:p>
          <a:endParaRPr lang="en-US"/>
        </a:p>
      </dgm:t>
    </dgm:pt>
    <dgm:pt modelId="{2B4D2E34-8686-4B51-AD2A-592130CE41CD}" type="sibTrans" cxnId="{A6D6E370-9140-4821-B827-CA21BC2DD8A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A7775B74-1F4C-4316-9594-5CB2080EBD3F}">
      <dgm:prSet/>
      <dgm:spPr/>
      <dgm:t>
        <a:bodyPr/>
        <a:lstStyle/>
        <a:p>
          <a:r>
            <a:rPr lang="en-US"/>
            <a:t>Metric: Cost per Beneficiary = Implementation Cost / Beneficiaries Reached</a:t>
          </a:r>
        </a:p>
      </dgm:t>
    </dgm:pt>
    <dgm:pt modelId="{6B727401-6C37-431C-B638-C2C3ABAE6082}" type="parTrans" cxnId="{6B1C1394-4F23-4E87-A380-19F59AEB97D1}">
      <dgm:prSet/>
      <dgm:spPr/>
      <dgm:t>
        <a:bodyPr/>
        <a:lstStyle/>
        <a:p>
          <a:endParaRPr lang="en-US"/>
        </a:p>
      </dgm:t>
    </dgm:pt>
    <dgm:pt modelId="{E59A85CA-F8DE-4433-85A3-91F6496CE54F}" type="sibTrans" cxnId="{6B1C1394-4F23-4E87-A380-19F59AEB97D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905983D-CC5E-4448-8C2B-A4D525575852}">
      <dgm:prSet/>
      <dgm:spPr/>
      <dgm:t>
        <a:bodyPr/>
        <a:lstStyle/>
        <a:p>
          <a:r>
            <a:rPr lang="en-US"/>
            <a:t>Log-scale normalization and IQR-based outlier detection</a:t>
          </a:r>
        </a:p>
      </dgm:t>
    </dgm:pt>
    <dgm:pt modelId="{6C12E0B5-6D29-478C-94FE-7337CD0EFA48}" type="parTrans" cxnId="{0C73B451-1986-44A6-89BE-090976F59419}">
      <dgm:prSet/>
      <dgm:spPr/>
      <dgm:t>
        <a:bodyPr/>
        <a:lstStyle/>
        <a:p>
          <a:endParaRPr lang="en-US"/>
        </a:p>
      </dgm:t>
    </dgm:pt>
    <dgm:pt modelId="{01A1CCC8-0872-45D1-9035-6E2B848006AB}" type="sibTrans" cxnId="{0C73B451-1986-44A6-89BE-090976F59419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261EA652-7BF7-6248-BB67-E5260553A9C1}" type="pres">
      <dgm:prSet presAssocID="{9051B20F-6E64-443F-BF41-751E01B82E35}" presName="Name0" presStyleCnt="0">
        <dgm:presLayoutVars>
          <dgm:animLvl val="lvl"/>
          <dgm:resizeHandles val="exact"/>
        </dgm:presLayoutVars>
      </dgm:prSet>
      <dgm:spPr/>
    </dgm:pt>
    <dgm:pt modelId="{48576CC8-B202-A246-BE85-9A3103A71626}" type="pres">
      <dgm:prSet presAssocID="{424F8ED6-434E-4474-A73A-01CAE1E62DEA}" presName="compositeNode" presStyleCnt="0">
        <dgm:presLayoutVars>
          <dgm:bulletEnabled val="1"/>
        </dgm:presLayoutVars>
      </dgm:prSet>
      <dgm:spPr/>
    </dgm:pt>
    <dgm:pt modelId="{550A35C1-E5A3-6C44-81AE-F25A1E516501}" type="pres">
      <dgm:prSet presAssocID="{424F8ED6-434E-4474-A73A-01CAE1E62DEA}" presName="bgRect" presStyleLbl="bgAccFollowNode1" presStyleIdx="0" presStyleCnt="3"/>
      <dgm:spPr/>
    </dgm:pt>
    <dgm:pt modelId="{8F813E7C-1696-D241-B870-741727CF2487}" type="pres">
      <dgm:prSet presAssocID="{2B4D2E34-8686-4B51-AD2A-592130CE41CD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B0359CE2-95DC-ED47-AD9C-885016DB1339}" type="pres">
      <dgm:prSet presAssocID="{424F8ED6-434E-4474-A73A-01CAE1E62DEA}" presName="bottomLine" presStyleLbl="alignNode1" presStyleIdx="1" presStyleCnt="6">
        <dgm:presLayoutVars/>
      </dgm:prSet>
      <dgm:spPr/>
    </dgm:pt>
    <dgm:pt modelId="{5F5C1BB7-C22E-CE4D-A41B-F6104DABF0E0}" type="pres">
      <dgm:prSet presAssocID="{424F8ED6-434E-4474-A73A-01CAE1E62DEA}" presName="nodeText" presStyleLbl="bgAccFollowNode1" presStyleIdx="0" presStyleCnt="3">
        <dgm:presLayoutVars>
          <dgm:bulletEnabled val="1"/>
        </dgm:presLayoutVars>
      </dgm:prSet>
      <dgm:spPr/>
    </dgm:pt>
    <dgm:pt modelId="{DB1E923B-9F65-4945-95E1-DCCDFDCCD4B5}" type="pres">
      <dgm:prSet presAssocID="{2B4D2E34-8686-4B51-AD2A-592130CE41CD}" presName="sibTrans" presStyleCnt="0"/>
      <dgm:spPr/>
    </dgm:pt>
    <dgm:pt modelId="{3A80525F-BAE7-BE46-A701-5FD5806A22E2}" type="pres">
      <dgm:prSet presAssocID="{A7775B74-1F4C-4316-9594-5CB2080EBD3F}" presName="compositeNode" presStyleCnt="0">
        <dgm:presLayoutVars>
          <dgm:bulletEnabled val="1"/>
        </dgm:presLayoutVars>
      </dgm:prSet>
      <dgm:spPr/>
    </dgm:pt>
    <dgm:pt modelId="{79694A9A-F07D-C746-AB5B-C9ABA79A00C6}" type="pres">
      <dgm:prSet presAssocID="{A7775B74-1F4C-4316-9594-5CB2080EBD3F}" presName="bgRect" presStyleLbl="bgAccFollowNode1" presStyleIdx="1" presStyleCnt="3"/>
      <dgm:spPr/>
    </dgm:pt>
    <dgm:pt modelId="{231D7BCF-C089-794F-B351-95DD0DB718C2}" type="pres">
      <dgm:prSet presAssocID="{E59A85CA-F8DE-4433-85A3-91F6496CE54F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E3C19079-7E1D-414D-B348-BD19B6901F50}" type="pres">
      <dgm:prSet presAssocID="{A7775B74-1F4C-4316-9594-5CB2080EBD3F}" presName="bottomLine" presStyleLbl="alignNode1" presStyleIdx="3" presStyleCnt="6">
        <dgm:presLayoutVars/>
      </dgm:prSet>
      <dgm:spPr/>
    </dgm:pt>
    <dgm:pt modelId="{E173105A-C666-CC44-AD5B-32BE0DBF8C17}" type="pres">
      <dgm:prSet presAssocID="{A7775B74-1F4C-4316-9594-5CB2080EBD3F}" presName="nodeText" presStyleLbl="bgAccFollowNode1" presStyleIdx="1" presStyleCnt="3">
        <dgm:presLayoutVars>
          <dgm:bulletEnabled val="1"/>
        </dgm:presLayoutVars>
      </dgm:prSet>
      <dgm:spPr/>
    </dgm:pt>
    <dgm:pt modelId="{881A9B94-2DED-234A-ABC2-4C79E186ACED}" type="pres">
      <dgm:prSet presAssocID="{E59A85CA-F8DE-4433-85A3-91F6496CE54F}" presName="sibTrans" presStyleCnt="0"/>
      <dgm:spPr/>
    </dgm:pt>
    <dgm:pt modelId="{C20EA846-3C09-DA44-8696-4F8A9BA52239}" type="pres">
      <dgm:prSet presAssocID="{4905983D-CC5E-4448-8C2B-A4D525575852}" presName="compositeNode" presStyleCnt="0">
        <dgm:presLayoutVars>
          <dgm:bulletEnabled val="1"/>
        </dgm:presLayoutVars>
      </dgm:prSet>
      <dgm:spPr/>
    </dgm:pt>
    <dgm:pt modelId="{AFD0B2A8-FEC9-634A-A51B-D56E92DF2404}" type="pres">
      <dgm:prSet presAssocID="{4905983D-CC5E-4448-8C2B-A4D525575852}" presName="bgRect" presStyleLbl="bgAccFollowNode1" presStyleIdx="2" presStyleCnt="3"/>
      <dgm:spPr/>
    </dgm:pt>
    <dgm:pt modelId="{F54A5F30-9707-5C4C-AF5F-AD0AF3D4D6EC}" type="pres">
      <dgm:prSet presAssocID="{01A1CCC8-0872-45D1-9035-6E2B848006AB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FDDE0216-066B-BE43-94B7-02E6BA09EF1E}" type="pres">
      <dgm:prSet presAssocID="{4905983D-CC5E-4448-8C2B-A4D525575852}" presName="bottomLine" presStyleLbl="alignNode1" presStyleIdx="5" presStyleCnt="6">
        <dgm:presLayoutVars/>
      </dgm:prSet>
      <dgm:spPr/>
    </dgm:pt>
    <dgm:pt modelId="{11479875-2218-1B4B-9677-1AB29CF06B0D}" type="pres">
      <dgm:prSet presAssocID="{4905983D-CC5E-4448-8C2B-A4D525575852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6F665B09-63B4-D248-B82A-0CCB04B91FFB}" type="presOf" srcId="{4905983D-CC5E-4448-8C2B-A4D525575852}" destId="{11479875-2218-1B4B-9677-1AB29CF06B0D}" srcOrd="1" destOrd="0" presId="urn:microsoft.com/office/officeart/2016/7/layout/BasicLinearProcessNumbered"/>
    <dgm:cxn modelId="{6DA7D10A-A576-274E-8390-42FD2FFF5139}" type="presOf" srcId="{424F8ED6-434E-4474-A73A-01CAE1E62DEA}" destId="{5F5C1BB7-C22E-CE4D-A41B-F6104DABF0E0}" srcOrd="1" destOrd="0" presId="urn:microsoft.com/office/officeart/2016/7/layout/BasicLinearProcessNumbered"/>
    <dgm:cxn modelId="{34BFD80A-D564-0341-BDFD-2986718E216D}" type="presOf" srcId="{424F8ED6-434E-4474-A73A-01CAE1E62DEA}" destId="{550A35C1-E5A3-6C44-81AE-F25A1E516501}" srcOrd="0" destOrd="0" presId="urn:microsoft.com/office/officeart/2016/7/layout/BasicLinearProcessNumbered"/>
    <dgm:cxn modelId="{4845373B-BCCC-8043-946B-0CECF9D692E3}" type="presOf" srcId="{2B4D2E34-8686-4B51-AD2A-592130CE41CD}" destId="{8F813E7C-1696-D241-B870-741727CF2487}" srcOrd="0" destOrd="0" presId="urn:microsoft.com/office/officeart/2016/7/layout/BasicLinearProcessNumbered"/>
    <dgm:cxn modelId="{A6D6E370-9140-4821-B827-CA21BC2DD8AF}" srcId="{9051B20F-6E64-443F-BF41-751E01B82E35}" destId="{424F8ED6-434E-4474-A73A-01CAE1E62DEA}" srcOrd="0" destOrd="0" parTransId="{9454AA34-D0EE-481C-9B1B-7453FFDDF551}" sibTransId="{2B4D2E34-8686-4B51-AD2A-592130CE41CD}"/>
    <dgm:cxn modelId="{0C73B451-1986-44A6-89BE-090976F59419}" srcId="{9051B20F-6E64-443F-BF41-751E01B82E35}" destId="{4905983D-CC5E-4448-8C2B-A4D525575852}" srcOrd="2" destOrd="0" parTransId="{6C12E0B5-6D29-478C-94FE-7337CD0EFA48}" sibTransId="{01A1CCC8-0872-45D1-9035-6E2B848006AB}"/>
    <dgm:cxn modelId="{110D4D93-FC4A-F44B-AB6F-499ACE3D77F0}" type="presOf" srcId="{4905983D-CC5E-4448-8C2B-A4D525575852}" destId="{AFD0B2A8-FEC9-634A-A51B-D56E92DF2404}" srcOrd="0" destOrd="0" presId="urn:microsoft.com/office/officeart/2016/7/layout/BasicLinearProcessNumbered"/>
    <dgm:cxn modelId="{6B1C1394-4F23-4E87-A380-19F59AEB97D1}" srcId="{9051B20F-6E64-443F-BF41-751E01B82E35}" destId="{A7775B74-1F4C-4316-9594-5CB2080EBD3F}" srcOrd="1" destOrd="0" parTransId="{6B727401-6C37-431C-B638-C2C3ABAE6082}" sibTransId="{E59A85CA-F8DE-4433-85A3-91F6496CE54F}"/>
    <dgm:cxn modelId="{3350669E-12B9-C244-94E9-864A04B5B125}" type="presOf" srcId="{A7775B74-1F4C-4316-9594-5CB2080EBD3F}" destId="{79694A9A-F07D-C746-AB5B-C9ABA79A00C6}" srcOrd="0" destOrd="0" presId="urn:microsoft.com/office/officeart/2016/7/layout/BasicLinearProcessNumbered"/>
    <dgm:cxn modelId="{D668BFDA-858B-1647-94D5-BD46B7C24F18}" type="presOf" srcId="{9051B20F-6E64-443F-BF41-751E01B82E35}" destId="{261EA652-7BF7-6248-BB67-E5260553A9C1}" srcOrd="0" destOrd="0" presId="urn:microsoft.com/office/officeart/2016/7/layout/BasicLinearProcessNumbered"/>
    <dgm:cxn modelId="{C4130ADC-D3DC-1046-BECF-60CBA23522D9}" type="presOf" srcId="{E59A85CA-F8DE-4433-85A3-91F6496CE54F}" destId="{231D7BCF-C089-794F-B351-95DD0DB718C2}" srcOrd="0" destOrd="0" presId="urn:microsoft.com/office/officeart/2016/7/layout/BasicLinearProcessNumbered"/>
    <dgm:cxn modelId="{9DA386FC-BB58-FF43-8153-F31874B6B852}" type="presOf" srcId="{01A1CCC8-0872-45D1-9035-6E2B848006AB}" destId="{F54A5F30-9707-5C4C-AF5F-AD0AF3D4D6EC}" srcOrd="0" destOrd="0" presId="urn:microsoft.com/office/officeart/2016/7/layout/BasicLinearProcessNumbered"/>
    <dgm:cxn modelId="{9E1110FD-7DCB-A94C-9EA4-0257EEB7DF62}" type="presOf" srcId="{A7775B74-1F4C-4316-9594-5CB2080EBD3F}" destId="{E173105A-C666-CC44-AD5B-32BE0DBF8C17}" srcOrd="1" destOrd="0" presId="urn:microsoft.com/office/officeart/2016/7/layout/BasicLinearProcessNumbered"/>
    <dgm:cxn modelId="{9ABD1A23-230A-CD4C-B8E8-28029BD5297C}" type="presParOf" srcId="{261EA652-7BF7-6248-BB67-E5260553A9C1}" destId="{48576CC8-B202-A246-BE85-9A3103A71626}" srcOrd="0" destOrd="0" presId="urn:microsoft.com/office/officeart/2016/7/layout/BasicLinearProcessNumbered"/>
    <dgm:cxn modelId="{FF7502F2-1FD0-C040-88DE-F77C0B2020BC}" type="presParOf" srcId="{48576CC8-B202-A246-BE85-9A3103A71626}" destId="{550A35C1-E5A3-6C44-81AE-F25A1E516501}" srcOrd="0" destOrd="0" presId="urn:microsoft.com/office/officeart/2016/7/layout/BasicLinearProcessNumbered"/>
    <dgm:cxn modelId="{7E22D4F0-3DA2-8545-8687-AE68159F98E7}" type="presParOf" srcId="{48576CC8-B202-A246-BE85-9A3103A71626}" destId="{8F813E7C-1696-D241-B870-741727CF2487}" srcOrd="1" destOrd="0" presId="urn:microsoft.com/office/officeart/2016/7/layout/BasicLinearProcessNumbered"/>
    <dgm:cxn modelId="{5AF92E60-4657-3447-AF53-1F8EB715BF2D}" type="presParOf" srcId="{48576CC8-B202-A246-BE85-9A3103A71626}" destId="{B0359CE2-95DC-ED47-AD9C-885016DB1339}" srcOrd="2" destOrd="0" presId="urn:microsoft.com/office/officeart/2016/7/layout/BasicLinearProcessNumbered"/>
    <dgm:cxn modelId="{00B802FE-2DFE-8B4B-AF67-76F9071E71B2}" type="presParOf" srcId="{48576CC8-B202-A246-BE85-9A3103A71626}" destId="{5F5C1BB7-C22E-CE4D-A41B-F6104DABF0E0}" srcOrd="3" destOrd="0" presId="urn:microsoft.com/office/officeart/2016/7/layout/BasicLinearProcessNumbered"/>
    <dgm:cxn modelId="{FEBAEA91-4F92-4144-A211-C4431F8ABEB6}" type="presParOf" srcId="{261EA652-7BF7-6248-BB67-E5260553A9C1}" destId="{DB1E923B-9F65-4945-95E1-DCCDFDCCD4B5}" srcOrd="1" destOrd="0" presId="urn:microsoft.com/office/officeart/2016/7/layout/BasicLinearProcessNumbered"/>
    <dgm:cxn modelId="{CF46E71C-E418-7D4F-AD4C-927B39F945D0}" type="presParOf" srcId="{261EA652-7BF7-6248-BB67-E5260553A9C1}" destId="{3A80525F-BAE7-BE46-A701-5FD5806A22E2}" srcOrd="2" destOrd="0" presId="urn:microsoft.com/office/officeart/2016/7/layout/BasicLinearProcessNumbered"/>
    <dgm:cxn modelId="{606066C3-EF0F-FE43-A48E-BECFC109B90A}" type="presParOf" srcId="{3A80525F-BAE7-BE46-A701-5FD5806A22E2}" destId="{79694A9A-F07D-C746-AB5B-C9ABA79A00C6}" srcOrd="0" destOrd="0" presId="urn:microsoft.com/office/officeart/2016/7/layout/BasicLinearProcessNumbered"/>
    <dgm:cxn modelId="{CAC4DE6F-34E1-1948-8C3D-173D9CB88908}" type="presParOf" srcId="{3A80525F-BAE7-BE46-A701-5FD5806A22E2}" destId="{231D7BCF-C089-794F-B351-95DD0DB718C2}" srcOrd="1" destOrd="0" presId="urn:microsoft.com/office/officeart/2016/7/layout/BasicLinearProcessNumbered"/>
    <dgm:cxn modelId="{16F2546D-1800-C346-AA8B-021E15137B55}" type="presParOf" srcId="{3A80525F-BAE7-BE46-A701-5FD5806A22E2}" destId="{E3C19079-7E1D-414D-B348-BD19B6901F50}" srcOrd="2" destOrd="0" presId="urn:microsoft.com/office/officeart/2016/7/layout/BasicLinearProcessNumbered"/>
    <dgm:cxn modelId="{9253219C-9396-4C4A-AB82-862732ECC43E}" type="presParOf" srcId="{3A80525F-BAE7-BE46-A701-5FD5806A22E2}" destId="{E173105A-C666-CC44-AD5B-32BE0DBF8C17}" srcOrd="3" destOrd="0" presId="urn:microsoft.com/office/officeart/2016/7/layout/BasicLinearProcessNumbered"/>
    <dgm:cxn modelId="{56672776-F2A3-EF4E-8993-E3F01F425618}" type="presParOf" srcId="{261EA652-7BF7-6248-BB67-E5260553A9C1}" destId="{881A9B94-2DED-234A-ABC2-4C79E186ACED}" srcOrd="3" destOrd="0" presId="urn:microsoft.com/office/officeart/2016/7/layout/BasicLinearProcessNumbered"/>
    <dgm:cxn modelId="{758CD134-2DF1-D74E-B16F-E0192CA499F1}" type="presParOf" srcId="{261EA652-7BF7-6248-BB67-E5260553A9C1}" destId="{C20EA846-3C09-DA44-8696-4F8A9BA52239}" srcOrd="4" destOrd="0" presId="urn:microsoft.com/office/officeart/2016/7/layout/BasicLinearProcessNumbered"/>
    <dgm:cxn modelId="{C7C6D8DB-3ACB-794F-9A04-82F357476C6F}" type="presParOf" srcId="{C20EA846-3C09-DA44-8696-4F8A9BA52239}" destId="{AFD0B2A8-FEC9-634A-A51B-D56E92DF2404}" srcOrd="0" destOrd="0" presId="urn:microsoft.com/office/officeart/2016/7/layout/BasicLinearProcessNumbered"/>
    <dgm:cxn modelId="{A1810FAB-AD41-5B40-9394-8144B8A96E26}" type="presParOf" srcId="{C20EA846-3C09-DA44-8696-4F8A9BA52239}" destId="{F54A5F30-9707-5C4C-AF5F-AD0AF3D4D6EC}" srcOrd="1" destOrd="0" presId="urn:microsoft.com/office/officeart/2016/7/layout/BasicLinearProcessNumbered"/>
    <dgm:cxn modelId="{A5A68A1F-315C-1D4F-92C9-71B6ECF412E0}" type="presParOf" srcId="{C20EA846-3C09-DA44-8696-4F8A9BA52239}" destId="{FDDE0216-066B-BE43-94B7-02E6BA09EF1E}" srcOrd="2" destOrd="0" presId="urn:microsoft.com/office/officeart/2016/7/layout/BasicLinearProcessNumbered"/>
    <dgm:cxn modelId="{7EB55EE3-92D5-5049-A775-93B15659036C}" type="presParOf" srcId="{C20EA846-3C09-DA44-8696-4F8A9BA52239}" destId="{11479875-2218-1B4B-9677-1AB29CF06B0D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F60040-61F5-4AC3-81B2-E0DE3D39362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985E2DE-6A35-47D1-B116-E51046A0F994}">
      <dgm:prSet/>
      <dgm:spPr/>
      <dgm:t>
        <a:bodyPr/>
        <a:lstStyle/>
        <a:p>
          <a:pPr>
            <a:defRPr cap="all"/>
          </a:pPr>
          <a:r>
            <a:rPr lang="en-US"/>
            <a:t>Wide distribution of cost per beneficiary across projects</a:t>
          </a:r>
        </a:p>
      </dgm:t>
    </dgm:pt>
    <dgm:pt modelId="{C2240054-8F14-4601-9DDC-7D9AC01D7A8C}" type="parTrans" cxnId="{7B9D97B8-7C1E-4992-B209-F785BD5B2330}">
      <dgm:prSet/>
      <dgm:spPr/>
      <dgm:t>
        <a:bodyPr/>
        <a:lstStyle/>
        <a:p>
          <a:endParaRPr lang="en-US"/>
        </a:p>
      </dgm:t>
    </dgm:pt>
    <dgm:pt modelId="{D040A37F-63C3-40A3-9574-1FE791FCA8B8}" type="sibTrans" cxnId="{7B9D97B8-7C1E-4992-B209-F785BD5B2330}">
      <dgm:prSet/>
      <dgm:spPr/>
      <dgm:t>
        <a:bodyPr/>
        <a:lstStyle/>
        <a:p>
          <a:endParaRPr lang="en-US"/>
        </a:p>
      </dgm:t>
    </dgm:pt>
    <dgm:pt modelId="{5808E892-63BB-42FA-B665-770EEC8441F7}">
      <dgm:prSet/>
      <dgm:spPr/>
      <dgm:t>
        <a:bodyPr/>
        <a:lstStyle/>
        <a:p>
          <a:pPr>
            <a:defRPr cap="all"/>
          </a:pPr>
          <a:r>
            <a:rPr lang="en-US"/>
            <a:t>Strong heterogeneity across allocation categories</a:t>
          </a:r>
        </a:p>
      </dgm:t>
    </dgm:pt>
    <dgm:pt modelId="{6638E721-4F4C-421E-992C-EAAED182FD58}" type="parTrans" cxnId="{7E8F9A04-D75D-41BA-AFC4-8DB452532DAE}">
      <dgm:prSet/>
      <dgm:spPr/>
      <dgm:t>
        <a:bodyPr/>
        <a:lstStyle/>
        <a:p>
          <a:endParaRPr lang="en-US"/>
        </a:p>
      </dgm:t>
    </dgm:pt>
    <dgm:pt modelId="{60803E6B-52B5-40AE-B43E-08034E9B4B4C}" type="sibTrans" cxnId="{7E8F9A04-D75D-41BA-AFC4-8DB452532DAE}">
      <dgm:prSet/>
      <dgm:spPr/>
      <dgm:t>
        <a:bodyPr/>
        <a:lstStyle/>
        <a:p>
          <a:endParaRPr lang="en-US"/>
        </a:p>
      </dgm:t>
    </dgm:pt>
    <dgm:pt modelId="{475ED23A-0ED1-4C3B-8628-65DC10BAFDE9}">
      <dgm:prSet/>
      <dgm:spPr/>
      <dgm:t>
        <a:bodyPr/>
        <a:lstStyle/>
        <a:p>
          <a:pPr>
            <a:defRPr cap="all"/>
          </a:pPr>
          <a:r>
            <a:rPr lang="en-US"/>
            <a:t>Some categories show persistently high median costs and variance</a:t>
          </a:r>
        </a:p>
      </dgm:t>
    </dgm:pt>
    <dgm:pt modelId="{142F8E6C-EC74-4F8E-953C-E8346B612D6F}" type="parTrans" cxnId="{566BD499-26AA-4624-AE8E-2E75230FB5AA}">
      <dgm:prSet/>
      <dgm:spPr/>
      <dgm:t>
        <a:bodyPr/>
        <a:lstStyle/>
        <a:p>
          <a:endParaRPr lang="en-US"/>
        </a:p>
      </dgm:t>
    </dgm:pt>
    <dgm:pt modelId="{1A1B4E9B-8A33-4DCF-9193-E9789C96E50B}" type="sibTrans" cxnId="{566BD499-26AA-4624-AE8E-2E75230FB5AA}">
      <dgm:prSet/>
      <dgm:spPr/>
      <dgm:t>
        <a:bodyPr/>
        <a:lstStyle/>
        <a:p>
          <a:endParaRPr lang="en-US"/>
        </a:p>
      </dgm:t>
    </dgm:pt>
    <dgm:pt modelId="{0F10F0DD-0002-4387-82F9-7174D3810AA7}" type="pres">
      <dgm:prSet presAssocID="{ACF60040-61F5-4AC3-81B2-E0DE3D39362D}" presName="root" presStyleCnt="0">
        <dgm:presLayoutVars>
          <dgm:dir/>
          <dgm:resizeHandles val="exact"/>
        </dgm:presLayoutVars>
      </dgm:prSet>
      <dgm:spPr/>
    </dgm:pt>
    <dgm:pt modelId="{470A993A-AF9D-4489-A32F-063F95B8329C}" type="pres">
      <dgm:prSet presAssocID="{3985E2DE-6A35-47D1-B116-E51046A0F994}" presName="compNode" presStyleCnt="0"/>
      <dgm:spPr/>
    </dgm:pt>
    <dgm:pt modelId="{1DA65C0A-007E-42DF-8390-0DA9D631DDE6}" type="pres">
      <dgm:prSet presAssocID="{3985E2DE-6A35-47D1-B116-E51046A0F994}" presName="iconBgRect" presStyleLbl="bgShp" presStyleIdx="0" presStyleCnt="3"/>
      <dgm:spPr/>
    </dgm:pt>
    <dgm:pt modelId="{8D9A8638-E729-4E60-96ED-0B7117D04BFF}" type="pres">
      <dgm:prSet presAssocID="{3985E2DE-6A35-47D1-B116-E51046A0F99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B8A7066-12BF-4D35-A626-39A78A9452C1}" type="pres">
      <dgm:prSet presAssocID="{3985E2DE-6A35-47D1-B116-E51046A0F994}" presName="spaceRect" presStyleCnt="0"/>
      <dgm:spPr/>
    </dgm:pt>
    <dgm:pt modelId="{55250D03-C7CA-4C00-AD90-CE8C3675EE76}" type="pres">
      <dgm:prSet presAssocID="{3985E2DE-6A35-47D1-B116-E51046A0F994}" presName="textRect" presStyleLbl="revTx" presStyleIdx="0" presStyleCnt="3">
        <dgm:presLayoutVars>
          <dgm:chMax val="1"/>
          <dgm:chPref val="1"/>
        </dgm:presLayoutVars>
      </dgm:prSet>
      <dgm:spPr/>
    </dgm:pt>
    <dgm:pt modelId="{236D7455-C774-44F5-86F3-2B782E16B966}" type="pres">
      <dgm:prSet presAssocID="{D040A37F-63C3-40A3-9574-1FE791FCA8B8}" presName="sibTrans" presStyleCnt="0"/>
      <dgm:spPr/>
    </dgm:pt>
    <dgm:pt modelId="{0BEF50A1-CD3C-4259-875F-2B8FCE7E25A5}" type="pres">
      <dgm:prSet presAssocID="{5808E892-63BB-42FA-B665-770EEC8441F7}" presName="compNode" presStyleCnt="0"/>
      <dgm:spPr/>
    </dgm:pt>
    <dgm:pt modelId="{B16E208C-0309-424F-84B9-7C1AE539B21D}" type="pres">
      <dgm:prSet presAssocID="{5808E892-63BB-42FA-B665-770EEC8441F7}" presName="iconBgRect" presStyleLbl="bgShp" presStyleIdx="1" presStyleCnt="3"/>
      <dgm:spPr/>
    </dgm:pt>
    <dgm:pt modelId="{24D1C473-AD95-48AD-9BA5-9918A7B55FB3}" type="pres">
      <dgm:prSet presAssocID="{5808E892-63BB-42FA-B665-770EEC8441F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9698CA8-8A1A-421C-B012-B6B1A94EEB50}" type="pres">
      <dgm:prSet presAssocID="{5808E892-63BB-42FA-B665-770EEC8441F7}" presName="spaceRect" presStyleCnt="0"/>
      <dgm:spPr/>
    </dgm:pt>
    <dgm:pt modelId="{DB5F002A-3E45-4D60-A0D8-383295DCCE95}" type="pres">
      <dgm:prSet presAssocID="{5808E892-63BB-42FA-B665-770EEC8441F7}" presName="textRect" presStyleLbl="revTx" presStyleIdx="1" presStyleCnt="3">
        <dgm:presLayoutVars>
          <dgm:chMax val="1"/>
          <dgm:chPref val="1"/>
        </dgm:presLayoutVars>
      </dgm:prSet>
      <dgm:spPr/>
    </dgm:pt>
    <dgm:pt modelId="{B5AFB2EE-4AA7-48CF-8157-8C59C9857658}" type="pres">
      <dgm:prSet presAssocID="{60803E6B-52B5-40AE-B43E-08034E9B4B4C}" presName="sibTrans" presStyleCnt="0"/>
      <dgm:spPr/>
    </dgm:pt>
    <dgm:pt modelId="{6DD6DE41-1590-4FEF-BD28-873535101EE8}" type="pres">
      <dgm:prSet presAssocID="{475ED23A-0ED1-4C3B-8628-65DC10BAFDE9}" presName="compNode" presStyleCnt="0"/>
      <dgm:spPr/>
    </dgm:pt>
    <dgm:pt modelId="{AC348F8D-D560-424E-9BC7-08ED60E7DD1C}" type="pres">
      <dgm:prSet presAssocID="{475ED23A-0ED1-4C3B-8628-65DC10BAFDE9}" presName="iconBgRect" presStyleLbl="bgShp" presStyleIdx="2" presStyleCnt="3"/>
      <dgm:spPr/>
    </dgm:pt>
    <dgm:pt modelId="{8EB3B90D-BC01-4DD4-ABA7-853CDE403809}" type="pres">
      <dgm:prSet presAssocID="{475ED23A-0ED1-4C3B-8628-65DC10BAFDE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7D297B91-4648-448B-BE05-9C9A9E786AC4}" type="pres">
      <dgm:prSet presAssocID="{475ED23A-0ED1-4C3B-8628-65DC10BAFDE9}" presName="spaceRect" presStyleCnt="0"/>
      <dgm:spPr/>
    </dgm:pt>
    <dgm:pt modelId="{A1642DA5-8D10-4888-8536-C43CFE723E0D}" type="pres">
      <dgm:prSet presAssocID="{475ED23A-0ED1-4C3B-8628-65DC10BAFDE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CC0C901-FB77-4FD3-8AD9-2E31BF264EB0}" type="presOf" srcId="{3985E2DE-6A35-47D1-B116-E51046A0F994}" destId="{55250D03-C7CA-4C00-AD90-CE8C3675EE76}" srcOrd="0" destOrd="0" presId="urn:microsoft.com/office/officeart/2018/5/layout/IconCircleLabelList"/>
    <dgm:cxn modelId="{7E8F9A04-D75D-41BA-AFC4-8DB452532DAE}" srcId="{ACF60040-61F5-4AC3-81B2-E0DE3D39362D}" destId="{5808E892-63BB-42FA-B665-770EEC8441F7}" srcOrd="1" destOrd="0" parTransId="{6638E721-4F4C-421E-992C-EAAED182FD58}" sibTransId="{60803E6B-52B5-40AE-B43E-08034E9B4B4C}"/>
    <dgm:cxn modelId="{ED2A0F12-0EE7-4D00-A904-CAC93819152C}" type="presOf" srcId="{ACF60040-61F5-4AC3-81B2-E0DE3D39362D}" destId="{0F10F0DD-0002-4387-82F9-7174D3810AA7}" srcOrd="0" destOrd="0" presId="urn:microsoft.com/office/officeart/2018/5/layout/IconCircleLabelList"/>
    <dgm:cxn modelId="{74E29C2A-0FC5-472B-8E7F-5B155429DE47}" type="presOf" srcId="{475ED23A-0ED1-4C3B-8628-65DC10BAFDE9}" destId="{A1642DA5-8D10-4888-8536-C43CFE723E0D}" srcOrd="0" destOrd="0" presId="urn:microsoft.com/office/officeart/2018/5/layout/IconCircleLabelList"/>
    <dgm:cxn modelId="{01C1BE3C-70C4-4D6C-86CC-0695EBBCAB85}" type="presOf" srcId="{5808E892-63BB-42FA-B665-770EEC8441F7}" destId="{DB5F002A-3E45-4D60-A0D8-383295DCCE95}" srcOrd="0" destOrd="0" presId="urn:microsoft.com/office/officeart/2018/5/layout/IconCircleLabelList"/>
    <dgm:cxn modelId="{566BD499-26AA-4624-AE8E-2E75230FB5AA}" srcId="{ACF60040-61F5-4AC3-81B2-E0DE3D39362D}" destId="{475ED23A-0ED1-4C3B-8628-65DC10BAFDE9}" srcOrd="2" destOrd="0" parTransId="{142F8E6C-EC74-4F8E-953C-E8346B612D6F}" sibTransId="{1A1B4E9B-8A33-4DCF-9193-E9789C96E50B}"/>
    <dgm:cxn modelId="{7B9D97B8-7C1E-4992-B209-F785BD5B2330}" srcId="{ACF60040-61F5-4AC3-81B2-E0DE3D39362D}" destId="{3985E2DE-6A35-47D1-B116-E51046A0F994}" srcOrd="0" destOrd="0" parTransId="{C2240054-8F14-4601-9DDC-7D9AC01D7A8C}" sibTransId="{D040A37F-63C3-40A3-9574-1FE791FCA8B8}"/>
    <dgm:cxn modelId="{5035F1D1-B389-4D02-9F2B-DEBF51DE7BBB}" type="presParOf" srcId="{0F10F0DD-0002-4387-82F9-7174D3810AA7}" destId="{470A993A-AF9D-4489-A32F-063F95B8329C}" srcOrd="0" destOrd="0" presId="urn:microsoft.com/office/officeart/2018/5/layout/IconCircleLabelList"/>
    <dgm:cxn modelId="{1D3C36A2-A667-432B-BEEF-E38A77174DB2}" type="presParOf" srcId="{470A993A-AF9D-4489-A32F-063F95B8329C}" destId="{1DA65C0A-007E-42DF-8390-0DA9D631DDE6}" srcOrd="0" destOrd="0" presId="urn:microsoft.com/office/officeart/2018/5/layout/IconCircleLabelList"/>
    <dgm:cxn modelId="{EDBFAF95-2668-4D6D-8BB1-7108290182E4}" type="presParOf" srcId="{470A993A-AF9D-4489-A32F-063F95B8329C}" destId="{8D9A8638-E729-4E60-96ED-0B7117D04BFF}" srcOrd="1" destOrd="0" presId="urn:microsoft.com/office/officeart/2018/5/layout/IconCircleLabelList"/>
    <dgm:cxn modelId="{B80F484E-8E6D-4A68-92B6-60BF0C2337AC}" type="presParOf" srcId="{470A993A-AF9D-4489-A32F-063F95B8329C}" destId="{8B8A7066-12BF-4D35-A626-39A78A9452C1}" srcOrd="2" destOrd="0" presId="urn:microsoft.com/office/officeart/2018/5/layout/IconCircleLabelList"/>
    <dgm:cxn modelId="{E64E1DC0-1EF2-4E25-A143-16C5CB9DF25B}" type="presParOf" srcId="{470A993A-AF9D-4489-A32F-063F95B8329C}" destId="{55250D03-C7CA-4C00-AD90-CE8C3675EE76}" srcOrd="3" destOrd="0" presId="urn:microsoft.com/office/officeart/2018/5/layout/IconCircleLabelList"/>
    <dgm:cxn modelId="{FFE07695-FE95-4256-A546-5EF40911153D}" type="presParOf" srcId="{0F10F0DD-0002-4387-82F9-7174D3810AA7}" destId="{236D7455-C774-44F5-86F3-2B782E16B966}" srcOrd="1" destOrd="0" presId="urn:microsoft.com/office/officeart/2018/5/layout/IconCircleLabelList"/>
    <dgm:cxn modelId="{DC9C207E-906D-45D2-83F7-53DFD3035FD8}" type="presParOf" srcId="{0F10F0DD-0002-4387-82F9-7174D3810AA7}" destId="{0BEF50A1-CD3C-4259-875F-2B8FCE7E25A5}" srcOrd="2" destOrd="0" presId="urn:microsoft.com/office/officeart/2018/5/layout/IconCircleLabelList"/>
    <dgm:cxn modelId="{E5AAE9D9-441E-4469-86C4-02561DD4FCF1}" type="presParOf" srcId="{0BEF50A1-CD3C-4259-875F-2B8FCE7E25A5}" destId="{B16E208C-0309-424F-84B9-7C1AE539B21D}" srcOrd="0" destOrd="0" presId="urn:microsoft.com/office/officeart/2018/5/layout/IconCircleLabelList"/>
    <dgm:cxn modelId="{80EEFEEA-411A-4460-B89B-CEE38F83726E}" type="presParOf" srcId="{0BEF50A1-CD3C-4259-875F-2B8FCE7E25A5}" destId="{24D1C473-AD95-48AD-9BA5-9918A7B55FB3}" srcOrd="1" destOrd="0" presId="urn:microsoft.com/office/officeart/2018/5/layout/IconCircleLabelList"/>
    <dgm:cxn modelId="{3FDCE841-6EB3-4246-A6D3-C116D4460374}" type="presParOf" srcId="{0BEF50A1-CD3C-4259-875F-2B8FCE7E25A5}" destId="{09698CA8-8A1A-421C-B012-B6B1A94EEB50}" srcOrd="2" destOrd="0" presId="urn:microsoft.com/office/officeart/2018/5/layout/IconCircleLabelList"/>
    <dgm:cxn modelId="{EEBA3779-D6B8-4AC7-9FC0-C382070CE6A8}" type="presParOf" srcId="{0BEF50A1-CD3C-4259-875F-2B8FCE7E25A5}" destId="{DB5F002A-3E45-4D60-A0D8-383295DCCE95}" srcOrd="3" destOrd="0" presId="urn:microsoft.com/office/officeart/2018/5/layout/IconCircleLabelList"/>
    <dgm:cxn modelId="{2E38C1F9-EEA0-4EEC-9A4A-146D3F30BEB4}" type="presParOf" srcId="{0F10F0DD-0002-4387-82F9-7174D3810AA7}" destId="{B5AFB2EE-4AA7-48CF-8157-8C59C9857658}" srcOrd="3" destOrd="0" presId="urn:microsoft.com/office/officeart/2018/5/layout/IconCircleLabelList"/>
    <dgm:cxn modelId="{7A57C732-37D4-4864-AC86-72A8B641E45A}" type="presParOf" srcId="{0F10F0DD-0002-4387-82F9-7174D3810AA7}" destId="{6DD6DE41-1590-4FEF-BD28-873535101EE8}" srcOrd="4" destOrd="0" presId="urn:microsoft.com/office/officeart/2018/5/layout/IconCircleLabelList"/>
    <dgm:cxn modelId="{9B728983-D3BF-478C-9830-669D416D9684}" type="presParOf" srcId="{6DD6DE41-1590-4FEF-BD28-873535101EE8}" destId="{AC348F8D-D560-424E-9BC7-08ED60E7DD1C}" srcOrd="0" destOrd="0" presId="urn:microsoft.com/office/officeart/2018/5/layout/IconCircleLabelList"/>
    <dgm:cxn modelId="{7270E761-7E60-4685-A0B1-34C629FF4510}" type="presParOf" srcId="{6DD6DE41-1590-4FEF-BD28-873535101EE8}" destId="{8EB3B90D-BC01-4DD4-ABA7-853CDE403809}" srcOrd="1" destOrd="0" presId="urn:microsoft.com/office/officeart/2018/5/layout/IconCircleLabelList"/>
    <dgm:cxn modelId="{A1198772-A2F9-4BCB-B1F0-8C519448BEFC}" type="presParOf" srcId="{6DD6DE41-1590-4FEF-BD28-873535101EE8}" destId="{7D297B91-4648-448B-BE05-9C9A9E786AC4}" srcOrd="2" destOrd="0" presId="urn:microsoft.com/office/officeart/2018/5/layout/IconCircleLabelList"/>
    <dgm:cxn modelId="{0256F1D7-EC2B-48EF-BB8D-1411E75BD9C6}" type="presParOf" srcId="{6DD6DE41-1590-4FEF-BD28-873535101EE8}" destId="{A1642DA5-8D10-4888-8536-C43CFE723E0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4C11962-5841-4D16-8D8D-CAFF43148C40}" type="doc">
      <dgm:prSet loTypeId="urn:microsoft.com/office/officeart/2005/8/layout/vList5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5A5EAD8-6A26-48E1-BCA9-0A6F438E6C1E}">
      <dgm:prSet/>
      <dgm:spPr/>
      <dgm:t>
        <a:bodyPr/>
        <a:lstStyle/>
        <a:p>
          <a:r>
            <a:rPr lang="en-US"/>
            <a:t>Certain regions and country-based pooled funds show high outlier rates</a:t>
          </a:r>
        </a:p>
      </dgm:t>
    </dgm:pt>
    <dgm:pt modelId="{2BC2D51B-56D5-48CC-9582-71CEE935349E}" type="parTrans" cxnId="{E509AAB1-ABC8-4CDD-8FDF-B39CE7AA4EE4}">
      <dgm:prSet/>
      <dgm:spPr/>
      <dgm:t>
        <a:bodyPr/>
        <a:lstStyle/>
        <a:p>
          <a:endParaRPr lang="en-US"/>
        </a:p>
      </dgm:t>
    </dgm:pt>
    <dgm:pt modelId="{3FC00557-DA45-4B5C-A457-38D90FA05272}" type="sibTrans" cxnId="{E509AAB1-ABC8-4CDD-8FDF-B39CE7AA4EE4}">
      <dgm:prSet/>
      <dgm:spPr/>
      <dgm:t>
        <a:bodyPr/>
        <a:lstStyle/>
        <a:p>
          <a:endParaRPr lang="en-US"/>
        </a:p>
      </dgm:t>
    </dgm:pt>
    <dgm:pt modelId="{8C23B70B-97C0-4DD6-A529-CDBE5907ABB8}">
      <dgm:prSet/>
      <dgm:spPr/>
      <dgm:t>
        <a:bodyPr/>
        <a:lstStyle/>
        <a:p>
          <a:r>
            <a:rPr lang="en-US"/>
            <a:t>Median cost per beneficiary varies substantially by cluster</a:t>
          </a:r>
        </a:p>
      </dgm:t>
    </dgm:pt>
    <dgm:pt modelId="{5FB71409-208A-4B43-A2AB-175025C6A5B2}" type="parTrans" cxnId="{3D0FBF3B-AA16-4297-A12E-33BD5F5687E5}">
      <dgm:prSet/>
      <dgm:spPr/>
      <dgm:t>
        <a:bodyPr/>
        <a:lstStyle/>
        <a:p>
          <a:endParaRPr lang="en-US"/>
        </a:p>
      </dgm:t>
    </dgm:pt>
    <dgm:pt modelId="{FEEEBF62-3BAE-4DD5-A330-599D6E993031}" type="sibTrans" cxnId="{3D0FBF3B-AA16-4297-A12E-33BD5F5687E5}">
      <dgm:prSet/>
      <dgm:spPr/>
      <dgm:t>
        <a:bodyPr/>
        <a:lstStyle/>
        <a:p>
          <a:endParaRPr lang="en-US"/>
        </a:p>
      </dgm:t>
    </dgm:pt>
    <dgm:pt modelId="{DEE025F0-F9C3-436C-B7E6-E551A7E69377}">
      <dgm:prSet/>
      <dgm:spPr/>
      <dgm:t>
        <a:bodyPr/>
        <a:lstStyle/>
        <a:p>
          <a:r>
            <a:rPr lang="en-US"/>
            <a:t>High outlier rates may reflect inefficiency or contextual constraints</a:t>
          </a:r>
        </a:p>
      </dgm:t>
    </dgm:pt>
    <dgm:pt modelId="{55108C06-5B07-461B-9CA2-49F7A808D943}" type="parTrans" cxnId="{24E2CE6B-B1B9-4E76-83E4-12573FD39942}">
      <dgm:prSet/>
      <dgm:spPr/>
      <dgm:t>
        <a:bodyPr/>
        <a:lstStyle/>
        <a:p>
          <a:endParaRPr lang="en-US"/>
        </a:p>
      </dgm:t>
    </dgm:pt>
    <dgm:pt modelId="{E4E82375-99C6-4B5F-B195-5874B4E753DC}" type="sibTrans" cxnId="{24E2CE6B-B1B9-4E76-83E4-12573FD39942}">
      <dgm:prSet/>
      <dgm:spPr/>
      <dgm:t>
        <a:bodyPr/>
        <a:lstStyle/>
        <a:p>
          <a:endParaRPr lang="en-US"/>
        </a:p>
      </dgm:t>
    </dgm:pt>
    <dgm:pt modelId="{152B5F1B-F3B3-4D40-939A-B66A277B7971}" type="pres">
      <dgm:prSet presAssocID="{B4C11962-5841-4D16-8D8D-CAFF43148C40}" presName="Name0" presStyleCnt="0">
        <dgm:presLayoutVars>
          <dgm:dir/>
          <dgm:animLvl val="lvl"/>
          <dgm:resizeHandles val="exact"/>
        </dgm:presLayoutVars>
      </dgm:prSet>
      <dgm:spPr/>
    </dgm:pt>
    <dgm:pt modelId="{E957FDC3-135F-7E40-BA84-DD49A55DEBA1}" type="pres">
      <dgm:prSet presAssocID="{B5A5EAD8-6A26-48E1-BCA9-0A6F438E6C1E}" presName="linNode" presStyleCnt="0"/>
      <dgm:spPr/>
    </dgm:pt>
    <dgm:pt modelId="{EF874C92-AEC9-524D-A386-3325F6D12567}" type="pres">
      <dgm:prSet presAssocID="{B5A5EAD8-6A26-48E1-BCA9-0A6F438E6C1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EDEA580-337D-2542-9D79-94CB3301FE00}" type="pres">
      <dgm:prSet presAssocID="{3FC00557-DA45-4B5C-A457-38D90FA05272}" presName="sp" presStyleCnt="0"/>
      <dgm:spPr/>
    </dgm:pt>
    <dgm:pt modelId="{FBA14E17-11AA-174C-92F3-C9D5B7AEE084}" type="pres">
      <dgm:prSet presAssocID="{8C23B70B-97C0-4DD6-A529-CDBE5907ABB8}" presName="linNode" presStyleCnt="0"/>
      <dgm:spPr/>
    </dgm:pt>
    <dgm:pt modelId="{B53A949B-7025-D64A-A561-57F19CC3D53C}" type="pres">
      <dgm:prSet presAssocID="{8C23B70B-97C0-4DD6-A529-CDBE5907ABB8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09C0562-10BB-9543-A708-A416553CDCAF}" type="pres">
      <dgm:prSet presAssocID="{FEEEBF62-3BAE-4DD5-A330-599D6E993031}" presName="sp" presStyleCnt="0"/>
      <dgm:spPr/>
    </dgm:pt>
    <dgm:pt modelId="{B12A1003-D2C1-374E-B5F8-E060D7DAFF7F}" type="pres">
      <dgm:prSet presAssocID="{DEE025F0-F9C3-436C-B7E6-E551A7E69377}" presName="linNode" presStyleCnt="0"/>
      <dgm:spPr/>
    </dgm:pt>
    <dgm:pt modelId="{0927A551-68D8-1547-9D01-BCE4BA1B256A}" type="pres">
      <dgm:prSet presAssocID="{DEE025F0-F9C3-436C-B7E6-E551A7E69377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3FE42407-BE96-7845-8690-5BA7DAC5414C}" type="presOf" srcId="{8C23B70B-97C0-4DD6-A529-CDBE5907ABB8}" destId="{B53A949B-7025-D64A-A561-57F19CC3D53C}" srcOrd="0" destOrd="0" presId="urn:microsoft.com/office/officeart/2005/8/layout/vList5"/>
    <dgm:cxn modelId="{E3D1601C-2F36-944F-8ADC-08E18EA02F74}" type="presOf" srcId="{DEE025F0-F9C3-436C-B7E6-E551A7E69377}" destId="{0927A551-68D8-1547-9D01-BCE4BA1B256A}" srcOrd="0" destOrd="0" presId="urn:microsoft.com/office/officeart/2005/8/layout/vList5"/>
    <dgm:cxn modelId="{3D0FBF3B-AA16-4297-A12E-33BD5F5687E5}" srcId="{B4C11962-5841-4D16-8D8D-CAFF43148C40}" destId="{8C23B70B-97C0-4DD6-A529-CDBE5907ABB8}" srcOrd="1" destOrd="0" parTransId="{5FB71409-208A-4B43-A2AB-175025C6A5B2}" sibTransId="{FEEEBF62-3BAE-4DD5-A330-599D6E993031}"/>
    <dgm:cxn modelId="{24E2CE6B-B1B9-4E76-83E4-12573FD39942}" srcId="{B4C11962-5841-4D16-8D8D-CAFF43148C40}" destId="{DEE025F0-F9C3-436C-B7E6-E551A7E69377}" srcOrd="2" destOrd="0" parTransId="{55108C06-5B07-461B-9CA2-49F7A808D943}" sibTransId="{E4E82375-99C6-4B5F-B195-5874B4E753DC}"/>
    <dgm:cxn modelId="{62FA296F-514C-0C40-B5FB-5CFC379EAAEC}" type="presOf" srcId="{B4C11962-5841-4D16-8D8D-CAFF43148C40}" destId="{152B5F1B-F3B3-4D40-939A-B66A277B7971}" srcOrd="0" destOrd="0" presId="urn:microsoft.com/office/officeart/2005/8/layout/vList5"/>
    <dgm:cxn modelId="{E509AAB1-ABC8-4CDD-8FDF-B39CE7AA4EE4}" srcId="{B4C11962-5841-4D16-8D8D-CAFF43148C40}" destId="{B5A5EAD8-6A26-48E1-BCA9-0A6F438E6C1E}" srcOrd="0" destOrd="0" parTransId="{2BC2D51B-56D5-48CC-9582-71CEE935349E}" sibTransId="{3FC00557-DA45-4B5C-A457-38D90FA05272}"/>
    <dgm:cxn modelId="{4B3077B8-0477-EA4D-9C7D-73E433D8B8A8}" type="presOf" srcId="{B5A5EAD8-6A26-48E1-BCA9-0A6F438E6C1E}" destId="{EF874C92-AEC9-524D-A386-3325F6D12567}" srcOrd="0" destOrd="0" presId="urn:microsoft.com/office/officeart/2005/8/layout/vList5"/>
    <dgm:cxn modelId="{161E35BA-9A70-C04D-BBC8-23E9A5553345}" type="presParOf" srcId="{152B5F1B-F3B3-4D40-939A-B66A277B7971}" destId="{E957FDC3-135F-7E40-BA84-DD49A55DEBA1}" srcOrd="0" destOrd="0" presId="urn:microsoft.com/office/officeart/2005/8/layout/vList5"/>
    <dgm:cxn modelId="{0063073F-023C-744C-B740-9DE8B6FB0CB5}" type="presParOf" srcId="{E957FDC3-135F-7E40-BA84-DD49A55DEBA1}" destId="{EF874C92-AEC9-524D-A386-3325F6D12567}" srcOrd="0" destOrd="0" presId="urn:microsoft.com/office/officeart/2005/8/layout/vList5"/>
    <dgm:cxn modelId="{4EF681B3-C60E-E844-8574-22B63437A705}" type="presParOf" srcId="{152B5F1B-F3B3-4D40-939A-B66A277B7971}" destId="{8EDEA580-337D-2542-9D79-94CB3301FE00}" srcOrd="1" destOrd="0" presId="urn:microsoft.com/office/officeart/2005/8/layout/vList5"/>
    <dgm:cxn modelId="{3BF79C00-61E5-DD42-8152-CDBAF6804E30}" type="presParOf" srcId="{152B5F1B-F3B3-4D40-939A-B66A277B7971}" destId="{FBA14E17-11AA-174C-92F3-C9D5B7AEE084}" srcOrd="2" destOrd="0" presId="urn:microsoft.com/office/officeart/2005/8/layout/vList5"/>
    <dgm:cxn modelId="{FE5B46C4-61FC-5B45-8494-E6F5EF399E8A}" type="presParOf" srcId="{FBA14E17-11AA-174C-92F3-C9D5B7AEE084}" destId="{B53A949B-7025-D64A-A561-57F19CC3D53C}" srcOrd="0" destOrd="0" presId="urn:microsoft.com/office/officeart/2005/8/layout/vList5"/>
    <dgm:cxn modelId="{3033C0E3-87A1-6045-9539-CB0C685C3BDA}" type="presParOf" srcId="{152B5F1B-F3B3-4D40-939A-B66A277B7971}" destId="{B09C0562-10BB-9543-A708-A416553CDCAF}" srcOrd="3" destOrd="0" presId="urn:microsoft.com/office/officeart/2005/8/layout/vList5"/>
    <dgm:cxn modelId="{855C0761-A5A1-7E49-A956-0B6E2A4CD353}" type="presParOf" srcId="{152B5F1B-F3B3-4D40-939A-B66A277B7971}" destId="{B12A1003-D2C1-374E-B5F8-E060D7DAFF7F}" srcOrd="4" destOrd="0" presId="urn:microsoft.com/office/officeart/2005/8/layout/vList5"/>
    <dgm:cxn modelId="{305CB3A1-A861-D145-A25C-E49090D9FC44}" type="presParOf" srcId="{B12A1003-D2C1-374E-B5F8-E060D7DAFF7F}" destId="{0927A551-68D8-1547-9D01-BCE4BA1B256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2F0FF9-F392-4F15-A298-6DC087A92E8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DA23350-69E4-4343-85C0-37DCEF90F718}">
      <dgm:prSet/>
      <dgm:spPr/>
      <dgm:t>
        <a:bodyPr/>
        <a:lstStyle/>
        <a:p>
          <a:r>
            <a:rPr lang="en-US"/>
            <a:t>Top CERF donors account for a large share of total contributions</a:t>
          </a:r>
        </a:p>
      </dgm:t>
    </dgm:pt>
    <dgm:pt modelId="{C87436DC-B7AB-4C8F-87B9-6E48A477EAD1}" type="parTrans" cxnId="{F4A22C9D-9CBD-4660-8576-72DE0A20A4A1}">
      <dgm:prSet/>
      <dgm:spPr/>
      <dgm:t>
        <a:bodyPr/>
        <a:lstStyle/>
        <a:p>
          <a:endParaRPr lang="en-US"/>
        </a:p>
      </dgm:t>
    </dgm:pt>
    <dgm:pt modelId="{1A825FF8-BEB3-4A4C-828E-1340FDC159EC}" type="sibTrans" cxnId="{F4A22C9D-9CBD-4660-8576-72DE0A20A4A1}">
      <dgm:prSet/>
      <dgm:spPr/>
      <dgm:t>
        <a:bodyPr/>
        <a:lstStyle/>
        <a:p>
          <a:endParaRPr lang="en-US"/>
        </a:p>
      </dgm:t>
    </dgm:pt>
    <dgm:pt modelId="{30A24192-ABAF-410D-94E7-724D462067EE}">
      <dgm:prSet/>
      <dgm:spPr/>
      <dgm:t>
        <a:bodyPr/>
        <a:lstStyle/>
        <a:p>
          <a:r>
            <a:rPr lang="en-US"/>
            <a:t>Funding concentration contrasts with geographically diffuse humanitarian needs</a:t>
          </a:r>
        </a:p>
      </dgm:t>
    </dgm:pt>
    <dgm:pt modelId="{B9A2EB18-CA8E-4951-8757-3E468A7C6CF3}" type="parTrans" cxnId="{5CD247CF-2DE7-4A4F-A611-5D82E4DD112C}">
      <dgm:prSet/>
      <dgm:spPr/>
      <dgm:t>
        <a:bodyPr/>
        <a:lstStyle/>
        <a:p>
          <a:endParaRPr lang="en-US"/>
        </a:p>
      </dgm:t>
    </dgm:pt>
    <dgm:pt modelId="{592EC7A2-C184-4FA5-92A8-B7838917D4BC}" type="sibTrans" cxnId="{5CD247CF-2DE7-4A4F-A611-5D82E4DD112C}">
      <dgm:prSet/>
      <dgm:spPr/>
      <dgm:t>
        <a:bodyPr/>
        <a:lstStyle/>
        <a:p>
          <a:endParaRPr lang="en-US"/>
        </a:p>
      </dgm:t>
    </dgm:pt>
    <dgm:pt modelId="{47F863CA-CC4F-433C-96F6-EEF942E10D79}">
      <dgm:prSet/>
      <dgm:spPr/>
      <dgm:t>
        <a:bodyPr/>
        <a:lstStyle/>
        <a:p>
          <a:r>
            <a:rPr lang="en-US"/>
            <a:t>Global donor map highlights unequal contribution patterns</a:t>
          </a:r>
        </a:p>
      </dgm:t>
    </dgm:pt>
    <dgm:pt modelId="{337CD568-802B-460B-BE1E-A2517DDE6DE1}" type="parTrans" cxnId="{ECF7120A-DE19-40DA-B7F1-5E9A44493C0C}">
      <dgm:prSet/>
      <dgm:spPr/>
      <dgm:t>
        <a:bodyPr/>
        <a:lstStyle/>
        <a:p>
          <a:endParaRPr lang="en-US"/>
        </a:p>
      </dgm:t>
    </dgm:pt>
    <dgm:pt modelId="{8F5F30C9-D669-4E0F-B4B3-83D9CCC42C93}" type="sibTrans" cxnId="{ECF7120A-DE19-40DA-B7F1-5E9A44493C0C}">
      <dgm:prSet/>
      <dgm:spPr/>
      <dgm:t>
        <a:bodyPr/>
        <a:lstStyle/>
        <a:p>
          <a:endParaRPr lang="en-US"/>
        </a:p>
      </dgm:t>
    </dgm:pt>
    <dgm:pt modelId="{5869F384-F861-4545-890B-F94D52D35BCC}" type="pres">
      <dgm:prSet presAssocID="{712F0FF9-F392-4F15-A298-6DC087A92E82}" presName="linear" presStyleCnt="0">
        <dgm:presLayoutVars>
          <dgm:animLvl val="lvl"/>
          <dgm:resizeHandles val="exact"/>
        </dgm:presLayoutVars>
      </dgm:prSet>
      <dgm:spPr/>
    </dgm:pt>
    <dgm:pt modelId="{AD25A80D-4AAD-4B44-B68B-9DB96D6E7C02}" type="pres">
      <dgm:prSet presAssocID="{1DA23350-69E4-4343-85C0-37DCEF90F71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AEA6EA0-F6C7-0646-9854-E5D643966FF8}" type="pres">
      <dgm:prSet presAssocID="{1A825FF8-BEB3-4A4C-828E-1340FDC159EC}" presName="spacer" presStyleCnt="0"/>
      <dgm:spPr/>
    </dgm:pt>
    <dgm:pt modelId="{607218EF-955D-324B-88EE-0ED9326613AA}" type="pres">
      <dgm:prSet presAssocID="{30A24192-ABAF-410D-94E7-724D462067E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EBF187A-A265-8041-AF5E-877CE59F107F}" type="pres">
      <dgm:prSet presAssocID="{592EC7A2-C184-4FA5-92A8-B7838917D4BC}" presName="spacer" presStyleCnt="0"/>
      <dgm:spPr/>
    </dgm:pt>
    <dgm:pt modelId="{F434B8F0-C090-6446-BFDB-D6B81F9F812C}" type="pres">
      <dgm:prSet presAssocID="{47F863CA-CC4F-433C-96F6-EEF942E10D7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CF7120A-DE19-40DA-B7F1-5E9A44493C0C}" srcId="{712F0FF9-F392-4F15-A298-6DC087A92E82}" destId="{47F863CA-CC4F-433C-96F6-EEF942E10D79}" srcOrd="2" destOrd="0" parTransId="{337CD568-802B-460B-BE1E-A2517DDE6DE1}" sibTransId="{8F5F30C9-D669-4E0F-B4B3-83D9CCC42C93}"/>
    <dgm:cxn modelId="{0913726B-E467-AA4C-A437-B484EB1C56D3}" type="presOf" srcId="{712F0FF9-F392-4F15-A298-6DC087A92E82}" destId="{5869F384-F861-4545-890B-F94D52D35BCC}" srcOrd="0" destOrd="0" presId="urn:microsoft.com/office/officeart/2005/8/layout/vList2"/>
    <dgm:cxn modelId="{B241654F-5B1D-7C41-97C9-CDEB2E7639EB}" type="presOf" srcId="{30A24192-ABAF-410D-94E7-724D462067EE}" destId="{607218EF-955D-324B-88EE-0ED9326613AA}" srcOrd="0" destOrd="0" presId="urn:microsoft.com/office/officeart/2005/8/layout/vList2"/>
    <dgm:cxn modelId="{F4A22C9D-9CBD-4660-8576-72DE0A20A4A1}" srcId="{712F0FF9-F392-4F15-A298-6DC087A92E82}" destId="{1DA23350-69E4-4343-85C0-37DCEF90F718}" srcOrd="0" destOrd="0" parTransId="{C87436DC-B7AB-4C8F-87B9-6E48A477EAD1}" sibTransId="{1A825FF8-BEB3-4A4C-828E-1340FDC159EC}"/>
    <dgm:cxn modelId="{F3C76DB6-BEA1-B445-9E86-6EF1AC31C487}" type="presOf" srcId="{47F863CA-CC4F-433C-96F6-EEF942E10D79}" destId="{F434B8F0-C090-6446-BFDB-D6B81F9F812C}" srcOrd="0" destOrd="0" presId="urn:microsoft.com/office/officeart/2005/8/layout/vList2"/>
    <dgm:cxn modelId="{CB3B8ACB-7DF4-CE41-8083-73C5B548DE66}" type="presOf" srcId="{1DA23350-69E4-4343-85C0-37DCEF90F718}" destId="{AD25A80D-4AAD-4B44-B68B-9DB96D6E7C02}" srcOrd="0" destOrd="0" presId="urn:microsoft.com/office/officeart/2005/8/layout/vList2"/>
    <dgm:cxn modelId="{5CD247CF-2DE7-4A4F-A611-5D82E4DD112C}" srcId="{712F0FF9-F392-4F15-A298-6DC087A92E82}" destId="{30A24192-ABAF-410D-94E7-724D462067EE}" srcOrd="1" destOrd="0" parTransId="{B9A2EB18-CA8E-4951-8757-3E468A7C6CF3}" sibTransId="{592EC7A2-C184-4FA5-92A8-B7838917D4BC}"/>
    <dgm:cxn modelId="{1EDC8F1E-991B-D846-9FAF-4C4C5C2FD7E9}" type="presParOf" srcId="{5869F384-F861-4545-890B-F94D52D35BCC}" destId="{AD25A80D-4AAD-4B44-B68B-9DB96D6E7C02}" srcOrd="0" destOrd="0" presId="urn:microsoft.com/office/officeart/2005/8/layout/vList2"/>
    <dgm:cxn modelId="{08266B7A-ACE0-8B4F-ACB4-3D0606BE16CA}" type="presParOf" srcId="{5869F384-F861-4545-890B-F94D52D35BCC}" destId="{9AEA6EA0-F6C7-0646-9854-E5D643966FF8}" srcOrd="1" destOrd="0" presId="urn:microsoft.com/office/officeart/2005/8/layout/vList2"/>
    <dgm:cxn modelId="{EBD801F2-C729-4E4D-8E2E-E7D899C36839}" type="presParOf" srcId="{5869F384-F861-4545-890B-F94D52D35BCC}" destId="{607218EF-955D-324B-88EE-0ED9326613AA}" srcOrd="2" destOrd="0" presId="urn:microsoft.com/office/officeart/2005/8/layout/vList2"/>
    <dgm:cxn modelId="{981911B0-7A3D-5945-A3AA-1F2075A580E4}" type="presParOf" srcId="{5869F384-F861-4545-890B-F94D52D35BCC}" destId="{7EBF187A-A265-8041-AF5E-877CE59F107F}" srcOrd="3" destOrd="0" presId="urn:microsoft.com/office/officeart/2005/8/layout/vList2"/>
    <dgm:cxn modelId="{3EB3A75B-740D-EB43-BE0E-816F5F56E48D}" type="presParOf" srcId="{5869F384-F861-4545-890B-F94D52D35BCC}" destId="{F434B8F0-C090-6446-BFDB-D6B81F9F812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9707F7B-4E46-4CFD-A9F1-41E59A538DF7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A9F3EC8-062B-44F2-A09A-375FE1033316}">
      <dgm:prSet/>
      <dgm:spPr/>
      <dgm:t>
        <a:bodyPr/>
        <a:lstStyle/>
        <a:p>
          <a:r>
            <a:rPr lang="en-US"/>
            <a:t>Compute</a:t>
          </a:r>
        </a:p>
      </dgm:t>
    </dgm:pt>
    <dgm:pt modelId="{7AF72902-A6A8-4286-9F1B-91789DCC872B}" type="parTrans" cxnId="{9819E2C7-110A-4F16-BE83-F8408F68D34F}">
      <dgm:prSet/>
      <dgm:spPr/>
      <dgm:t>
        <a:bodyPr/>
        <a:lstStyle/>
        <a:p>
          <a:endParaRPr lang="en-US"/>
        </a:p>
      </dgm:t>
    </dgm:pt>
    <dgm:pt modelId="{29DBA2E7-67BF-47DC-934F-9A402B733F34}" type="sibTrans" cxnId="{9819E2C7-110A-4F16-BE83-F8408F68D34F}">
      <dgm:prSet/>
      <dgm:spPr/>
      <dgm:t>
        <a:bodyPr/>
        <a:lstStyle/>
        <a:p>
          <a:endParaRPr lang="en-US"/>
        </a:p>
      </dgm:t>
    </dgm:pt>
    <dgm:pt modelId="{90115F27-9445-4CCE-A9D4-8E6797FEA15F}">
      <dgm:prSet/>
      <dgm:spPr/>
      <dgm:t>
        <a:bodyPr/>
        <a:lstStyle/>
        <a:p>
          <a:r>
            <a:rPr lang="en-US"/>
            <a:t>Compute cost per beneficiary for all projects</a:t>
          </a:r>
        </a:p>
      </dgm:t>
    </dgm:pt>
    <dgm:pt modelId="{5F3C61B5-F131-4845-AED6-C0C2647CA9A5}" type="parTrans" cxnId="{34D184DD-EF99-4FE7-B00B-F74093C2B51E}">
      <dgm:prSet/>
      <dgm:spPr/>
      <dgm:t>
        <a:bodyPr/>
        <a:lstStyle/>
        <a:p>
          <a:endParaRPr lang="en-US"/>
        </a:p>
      </dgm:t>
    </dgm:pt>
    <dgm:pt modelId="{CBDCE3F9-9DEC-4936-AC73-42489897E35A}" type="sibTrans" cxnId="{34D184DD-EF99-4FE7-B00B-F74093C2B51E}">
      <dgm:prSet/>
      <dgm:spPr/>
      <dgm:t>
        <a:bodyPr/>
        <a:lstStyle/>
        <a:p>
          <a:endParaRPr lang="en-US"/>
        </a:p>
      </dgm:t>
    </dgm:pt>
    <dgm:pt modelId="{00F4C5D7-76A5-4DC7-972D-686E352BBD25}">
      <dgm:prSet/>
      <dgm:spPr/>
      <dgm:t>
        <a:bodyPr/>
        <a:lstStyle/>
        <a:p>
          <a:r>
            <a:rPr lang="en-US"/>
            <a:t>Normalize</a:t>
          </a:r>
        </a:p>
      </dgm:t>
    </dgm:pt>
    <dgm:pt modelId="{4E497237-E31A-48C5-93CB-347A0AE5D318}" type="parTrans" cxnId="{2BEF5AB6-BA16-43E7-B38B-A8CEE09A34CC}">
      <dgm:prSet/>
      <dgm:spPr/>
      <dgm:t>
        <a:bodyPr/>
        <a:lstStyle/>
        <a:p>
          <a:endParaRPr lang="en-US"/>
        </a:p>
      </dgm:t>
    </dgm:pt>
    <dgm:pt modelId="{1F5C822C-3383-4B49-8A1D-A7E9929D12CF}" type="sibTrans" cxnId="{2BEF5AB6-BA16-43E7-B38B-A8CEE09A34CC}">
      <dgm:prSet/>
      <dgm:spPr/>
      <dgm:t>
        <a:bodyPr/>
        <a:lstStyle/>
        <a:p>
          <a:endParaRPr lang="en-US"/>
        </a:p>
      </dgm:t>
    </dgm:pt>
    <dgm:pt modelId="{7E6DD9EB-2BB4-4A66-9F76-5A6F6ECFDCEC}">
      <dgm:prSet/>
      <dgm:spPr/>
      <dgm:t>
        <a:bodyPr/>
        <a:lstStyle/>
        <a:p>
          <a:r>
            <a:rPr lang="en-US"/>
            <a:t>Normalize costs using log scaling and flag statistical outliers</a:t>
          </a:r>
        </a:p>
      </dgm:t>
    </dgm:pt>
    <dgm:pt modelId="{2C7FDCC0-0561-4305-A929-BDDF8082AE32}" type="parTrans" cxnId="{C9B59CAC-91B8-4FF1-9E6A-CCF622491A12}">
      <dgm:prSet/>
      <dgm:spPr/>
      <dgm:t>
        <a:bodyPr/>
        <a:lstStyle/>
        <a:p>
          <a:endParaRPr lang="en-US"/>
        </a:p>
      </dgm:t>
    </dgm:pt>
    <dgm:pt modelId="{9797A739-5762-41FA-90E1-153A1EAECFD2}" type="sibTrans" cxnId="{C9B59CAC-91B8-4FF1-9E6A-CCF622491A12}">
      <dgm:prSet/>
      <dgm:spPr/>
      <dgm:t>
        <a:bodyPr/>
        <a:lstStyle/>
        <a:p>
          <a:endParaRPr lang="en-US"/>
        </a:p>
      </dgm:t>
    </dgm:pt>
    <dgm:pt modelId="{294D8DC7-BB3C-461B-889D-1097CF68CF3C}">
      <dgm:prSet/>
      <dgm:spPr/>
      <dgm:t>
        <a:bodyPr/>
        <a:lstStyle/>
        <a:p>
          <a:r>
            <a:rPr lang="en-US"/>
            <a:t>Compare</a:t>
          </a:r>
        </a:p>
      </dgm:t>
    </dgm:pt>
    <dgm:pt modelId="{426EB8D2-C004-4AB7-96F2-4A0D73D82FD1}" type="parTrans" cxnId="{3EA965FA-1949-461D-AD1A-30B3766FB7D6}">
      <dgm:prSet/>
      <dgm:spPr/>
      <dgm:t>
        <a:bodyPr/>
        <a:lstStyle/>
        <a:p>
          <a:endParaRPr lang="en-US"/>
        </a:p>
      </dgm:t>
    </dgm:pt>
    <dgm:pt modelId="{C26D2B7E-4F64-4567-B995-DCB3C3B7EDF9}" type="sibTrans" cxnId="{3EA965FA-1949-461D-AD1A-30B3766FB7D6}">
      <dgm:prSet/>
      <dgm:spPr/>
      <dgm:t>
        <a:bodyPr/>
        <a:lstStyle/>
        <a:p>
          <a:endParaRPr lang="en-US"/>
        </a:p>
      </dgm:t>
    </dgm:pt>
    <dgm:pt modelId="{348C73ED-8464-47ED-9C94-726097C3BAA3}">
      <dgm:prSet/>
      <dgm:spPr/>
      <dgm:t>
        <a:bodyPr/>
        <a:lstStyle/>
        <a:p>
          <a:r>
            <a:rPr lang="en-US"/>
            <a:t>Compare efficiency across clusters, regions, and time for monitoring</a:t>
          </a:r>
        </a:p>
      </dgm:t>
    </dgm:pt>
    <dgm:pt modelId="{50B04FB2-B712-495F-8993-12367033F15C}" type="parTrans" cxnId="{F024C025-17B6-4E5E-9FF6-653236E9A22D}">
      <dgm:prSet/>
      <dgm:spPr/>
      <dgm:t>
        <a:bodyPr/>
        <a:lstStyle/>
        <a:p>
          <a:endParaRPr lang="en-US"/>
        </a:p>
      </dgm:t>
    </dgm:pt>
    <dgm:pt modelId="{3B9886AE-9D59-4889-944D-73D0F77E5032}" type="sibTrans" cxnId="{F024C025-17B6-4E5E-9FF6-653236E9A22D}">
      <dgm:prSet/>
      <dgm:spPr/>
      <dgm:t>
        <a:bodyPr/>
        <a:lstStyle/>
        <a:p>
          <a:endParaRPr lang="en-US"/>
        </a:p>
      </dgm:t>
    </dgm:pt>
    <dgm:pt modelId="{67C748B7-A439-A241-81C6-2109D5D26135}" type="pres">
      <dgm:prSet presAssocID="{E9707F7B-4E46-4CFD-A9F1-41E59A538DF7}" presName="Name0" presStyleCnt="0">
        <dgm:presLayoutVars>
          <dgm:dir/>
          <dgm:animLvl val="lvl"/>
          <dgm:resizeHandles val="exact"/>
        </dgm:presLayoutVars>
      </dgm:prSet>
      <dgm:spPr/>
    </dgm:pt>
    <dgm:pt modelId="{7DFE5976-14E0-1E47-91FE-BACFCB205B7D}" type="pres">
      <dgm:prSet presAssocID="{EA9F3EC8-062B-44F2-A09A-375FE1033316}" presName="linNode" presStyleCnt="0"/>
      <dgm:spPr/>
    </dgm:pt>
    <dgm:pt modelId="{D42A89AF-BB69-6342-B5CB-A3F5AD977E65}" type="pres">
      <dgm:prSet presAssocID="{EA9F3EC8-062B-44F2-A09A-375FE1033316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CDBB28F3-2AB7-1948-B6D0-855A6660B419}" type="pres">
      <dgm:prSet presAssocID="{EA9F3EC8-062B-44F2-A09A-375FE1033316}" presName="descendantText" presStyleLbl="alignAccFollowNode1" presStyleIdx="0" presStyleCnt="3">
        <dgm:presLayoutVars>
          <dgm:bulletEnabled/>
        </dgm:presLayoutVars>
      </dgm:prSet>
      <dgm:spPr/>
    </dgm:pt>
    <dgm:pt modelId="{7A0B5B19-C2B5-5A4E-A937-18AC0EF41765}" type="pres">
      <dgm:prSet presAssocID="{29DBA2E7-67BF-47DC-934F-9A402B733F34}" presName="sp" presStyleCnt="0"/>
      <dgm:spPr/>
    </dgm:pt>
    <dgm:pt modelId="{9EC7E4A3-55B9-FC45-ADCC-A0E2695F30E7}" type="pres">
      <dgm:prSet presAssocID="{00F4C5D7-76A5-4DC7-972D-686E352BBD25}" presName="linNode" presStyleCnt="0"/>
      <dgm:spPr/>
    </dgm:pt>
    <dgm:pt modelId="{58EBC079-F7D9-7A4F-8585-0A45C34BFEF8}" type="pres">
      <dgm:prSet presAssocID="{00F4C5D7-76A5-4DC7-972D-686E352BBD25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F3051E99-3870-194F-86C0-47B2DB5E35F5}" type="pres">
      <dgm:prSet presAssocID="{00F4C5D7-76A5-4DC7-972D-686E352BBD25}" presName="descendantText" presStyleLbl="alignAccFollowNode1" presStyleIdx="1" presStyleCnt="3">
        <dgm:presLayoutVars>
          <dgm:bulletEnabled/>
        </dgm:presLayoutVars>
      </dgm:prSet>
      <dgm:spPr/>
    </dgm:pt>
    <dgm:pt modelId="{4F0D5CC7-E94F-854F-A132-553B3A0450F4}" type="pres">
      <dgm:prSet presAssocID="{1F5C822C-3383-4B49-8A1D-A7E9929D12CF}" presName="sp" presStyleCnt="0"/>
      <dgm:spPr/>
    </dgm:pt>
    <dgm:pt modelId="{4CCFAFA2-45CD-5245-86A8-9DBAF110F599}" type="pres">
      <dgm:prSet presAssocID="{294D8DC7-BB3C-461B-889D-1097CF68CF3C}" presName="linNode" presStyleCnt="0"/>
      <dgm:spPr/>
    </dgm:pt>
    <dgm:pt modelId="{7DEF2BD4-8D94-8348-8C82-7B85A0DCB543}" type="pres">
      <dgm:prSet presAssocID="{294D8DC7-BB3C-461B-889D-1097CF68CF3C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5EDFDBB1-30D7-0545-9688-41C4DE5D97CE}" type="pres">
      <dgm:prSet presAssocID="{294D8DC7-BB3C-461B-889D-1097CF68CF3C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453EEB18-E9ED-CA40-B180-A2E2ECFAF58D}" type="presOf" srcId="{E9707F7B-4E46-4CFD-A9F1-41E59A538DF7}" destId="{67C748B7-A439-A241-81C6-2109D5D26135}" srcOrd="0" destOrd="0" presId="urn:microsoft.com/office/officeart/2016/7/layout/VerticalSolidActionList"/>
    <dgm:cxn modelId="{F024C025-17B6-4E5E-9FF6-653236E9A22D}" srcId="{294D8DC7-BB3C-461B-889D-1097CF68CF3C}" destId="{348C73ED-8464-47ED-9C94-726097C3BAA3}" srcOrd="0" destOrd="0" parTransId="{50B04FB2-B712-495F-8993-12367033F15C}" sibTransId="{3B9886AE-9D59-4889-944D-73D0F77E5032}"/>
    <dgm:cxn modelId="{61BD4061-B51E-E947-950F-31AAF0A40D5C}" type="presOf" srcId="{00F4C5D7-76A5-4DC7-972D-686E352BBD25}" destId="{58EBC079-F7D9-7A4F-8585-0A45C34BFEF8}" srcOrd="0" destOrd="0" presId="urn:microsoft.com/office/officeart/2016/7/layout/VerticalSolidActionList"/>
    <dgm:cxn modelId="{A72B5F59-A5DB-4041-B0C6-9E34A2EB88CB}" type="presOf" srcId="{EA9F3EC8-062B-44F2-A09A-375FE1033316}" destId="{D42A89AF-BB69-6342-B5CB-A3F5AD977E65}" srcOrd="0" destOrd="0" presId="urn:microsoft.com/office/officeart/2016/7/layout/VerticalSolidActionList"/>
    <dgm:cxn modelId="{C9B59CAC-91B8-4FF1-9E6A-CCF622491A12}" srcId="{00F4C5D7-76A5-4DC7-972D-686E352BBD25}" destId="{7E6DD9EB-2BB4-4A66-9F76-5A6F6ECFDCEC}" srcOrd="0" destOrd="0" parTransId="{2C7FDCC0-0561-4305-A929-BDDF8082AE32}" sibTransId="{9797A739-5762-41FA-90E1-153A1EAECFD2}"/>
    <dgm:cxn modelId="{70FED0B0-B97F-4040-93BF-22F1BFD48BA6}" type="presOf" srcId="{294D8DC7-BB3C-461B-889D-1097CF68CF3C}" destId="{7DEF2BD4-8D94-8348-8C82-7B85A0DCB543}" srcOrd="0" destOrd="0" presId="urn:microsoft.com/office/officeart/2016/7/layout/VerticalSolidActionList"/>
    <dgm:cxn modelId="{2BEF5AB6-BA16-43E7-B38B-A8CEE09A34CC}" srcId="{E9707F7B-4E46-4CFD-A9F1-41E59A538DF7}" destId="{00F4C5D7-76A5-4DC7-972D-686E352BBD25}" srcOrd="1" destOrd="0" parTransId="{4E497237-E31A-48C5-93CB-347A0AE5D318}" sibTransId="{1F5C822C-3383-4B49-8A1D-A7E9929D12CF}"/>
    <dgm:cxn modelId="{9819E2C7-110A-4F16-BE83-F8408F68D34F}" srcId="{E9707F7B-4E46-4CFD-A9F1-41E59A538DF7}" destId="{EA9F3EC8-062B-44F2-A09A-375FE1033316}" srcOrd="0" destOrd="0" parTransId="{7AF72902-A6A8-4286-9F1B-91789DCC872B}" sibTransId="{29DBA2E7-67BF-47DC-934F-9A402B733F34}"/>
    <dgm:cxn modelId="{6B2FB0D3-2518-5A47-A756-6B31638466B5}" type="presOf" srcId="{7E6DD9EB-2BB4-4A66-9F76-5A6F6ECFDCEC}" destId="{F3051E99-3870-194F-86C0-47B2DB5E35F5}" srcOrd="0" destOrd="0" presId="urn:microsoft.com/office/officeart/2016/7/layout/VerticalSolidActionList"/>
    <dgm:cxn modelId="{433B55D4-4725-C645-A360-ED5D8FFF589C}" type="presOf" srcId="{90115F27-9445-4CCE-A9D4-8E6797FEA15F}" destId="{CDBB28F3-2AB7-1948-B6D0-855A6660B419}" srcOrd="0" destOrd="0" presId="urn:microsoft.com/office/officeart/2016/7/layout/VerticalSolidActionList"/>
    <dgm:cxn modelId="{34D184DD-EF99-4FE7-B00B-F74093C2B51E}" srcId="{EA9F3EC8-062B-44F2-A09A-375FE1033316}" destId="{90115F27-9445-4CCE-A9D4-8E6797FEA15F}" srcOrd="0" destOrd="0" parTransId="{5F3C61B5-F131-4845-AED6-C0C2647CA9A5}" sibTransId="{CBDCE3F9-9DEC-4936-AC73-42489897E35A}"/>
    <dgm:cxn modelId="{B4950EEC-5C6C-CE48-AE75-68F2BF4D190C}" type="presOf" srcId="{348C73ED-8464-47ED-9C94-726097C3BAA3}" destId="{5EDFDBB1-30D7-0545-9688-41C4DE5D97CE}" srcOrd="0" destOrd="0" presId="urn:microsoft.com/office/officeart/2016/7/layout/VerticalSolidActionList"/>
    <dgm:cxn modelId="{3EA965FA-1949-461D-AD1A-30B3766FB7D6}" srcId="{E9707F7B-4E46-4CFD-A9F1-41E59A538DF7}" destId="{294D8DC7-BB3C-461B-889D-1097CF68CF3C}" srcOrd="2" destOrd="0" parTransId="{426EB8D2-C004-4AB7-96F2-4A0D73D82FD1}" sibTransId="{C26D2B7E-4F64-4567-B995-DCB3C3B7EDF9}"/>
    <dgm:cxn modelId="{2BA15B15-A59A-3543-BB15-D4EEA5A004D5}" type="presParOf" srcId="{67C748B7-A439-A241-81C6-2109D5D26135}" destId="{7DFE5976-14E0-1E47-91FE-BACFCB205B7D}" srcOrd="0" destOrd="0" presId="urn:microsoft.com/office/officeart/2016/7/layout/VerticalSolidActionList"/>
    <dgm:cxn modelId="{59CFE536-AC75-DE4D-AA7B-03B536710179}" type="presParOf" srcId="{7DFE5976-14E0-1E47-91FE-BACFCB205B7D}" destId="{D42A89AF-BB69-6342-B5CB-A3F5AD977E65}" srcOrd="0" destOrd="0" presId="urn:microsoft.com/office/officeart/2016/7/layout/VerticalSolidActionList"/>
    <dgm:cxn modelId="{6A1B049E-EEED-5242-A83E-DF426546DC8B}" type="presParOf" srcId="{7DFE5976-14E0-1E47-91FE-BACFCB205B7D}" destId="{CDBB28F3-2AB7-1948-B6D0-855A6660B419}" srcOrd="1" destOrd="0" presId="urn:microsoft.com/office/officeart/2016/7/layout/VerticalSolidActionList"/>
    <dgm:cxn modelId="{74F22654-BCF6-914C-83D7-DAF32266D6DF}" type="presParOf" srcId="{67C748B7-A439-A241-81C6-2109D5D26135}" destId="{7A0B5B19-C2B5-5A4E-A937-18AC0EF41765}" srcOrd="1" destOrd="0" presId="urn:microsoft.com/office/officeart/2016/7/layout/VerticalSolidActionList"/>
    <dgm:cxn modelId="{D2DE911E-B807-7449-8F51-437B418B455F}" type="presParOf" srcId="{67C748B7-A439-A241-81C6-2109D5D26135}" destId="{9EC7E4A3-55B9-FC45-ADCC-A0E2695F30E7}" srcOrd="2" destOrd="0" presId="urn:microsoft.com/office/officeart/2016/7/layout/VerticalSolidActionList"/>
    <dgm:cxn modelId="{3BACCF28-C9C6-7D42-9A7F-AB4D16565539}" type="presParOf" srcId="{9EC7E4A3-55B9-FC45-ADCC-A0E2695F30E7}" destId="{58EBC079-F7D9-7A4F-8585-0A45C34BFEF8}" srcOrd="0" destOrd="0" presId="urn:microsoft.com/office/officeart/2016/7/layout/VerticalSolidActionList"/>
    <dgm:cxn modelId="{4EB543AD-94AD-C549-9708-9BF0A7ABEE00}" type="presParOf" srcId="{9EC7E4A3-55B9-FC45-ADCC-A0E2695F30E7}" destId="{F3051E99-3870-194F-86C0-47B2DB5E35F5}" srcOrd="1" destOrd="0" presId="urn:microsoft.com/office/officeart/2016/7/layout/VerticalSolidActionList"/>
    <dgm:cxn modelId="{82C4E534-F4D1-6F40-AB33-5C5AE19E696A}" type="presParOf" srcId="{67C748B7-A439-A241-81C6-2109D5D26135}" destId="{4F0D5CC7-E94F-854F-A132-553B3A0450F4}" srcOrd="3" destOrd="0" presId="urn:microsoft.com/office/officeart/2016/7/layout/VerticalSolidActionList"/>
    <dgm:cxn modelId="{0B8FCAAE-2F3A-3F43-B458-EBC15CCF2FEB}" type="presParOf" srcId="{67C748B7-A439-A241-81C6-2109D5D26135}" destId="{4CCFAFA2-45CD-5245-86A8-9DBAF110F599}" srcOrd="4" destOrd="0" presId="urn:microsoft.com/office/officeart/2016/7/layout/VerticalSolidActionList"/>
    <dgm:cxn modelId="{6BF17BD0-0F9E-6E47-A596-0A71C83ADEE9}" type="presParOf" srcId="{4CCFAFA2-45CD-5245-86A8-9DBAF110F599}" destId="{7DEF2BD4-8D94-8348-8C82-7B85A0DCB543}" srcOrd="0" destOrd="0" presId="urn:microsoft.com/office/officeart/2016/7/layout/VerticalSolidActionList"/>
    <dgm:cxn modelId="{2D515511-D142-384D-87AC-25C68D9DF8BE}" type="presParOf" srcId="{4CCFAFA2-45CD-5245-86A8-9DBAF110F599}" destId="{5EDFDBB1-30D7-0545-9688-41C4DE5D97CE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35334E5-9294-4094-9B1A-AA2D5EC54CE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FF751C2-96A1-47CC-AC46-91C5E16CB46A}">
      <dgm:prSet/>
      <dgm:spPr/>
      <dgm:t>
        <a:bodyPr/>
        <a:lstStyle/>
        <a:p>
          <a:r>
            <a:rPr lang="en-US"/>
            <a:t>Enables evidence-based monitoring of humanitarian efficiency</a:t>
          </a:r>
        </a:p>
      </dgm:t>
    </dgm:pt>
    <dgm:pt modelId="{AC6BE224-7F43-419D-A620-579F16101832}" type="parTrans" cxnId="{538F0B6D-495F-445F-91C1-E3CA409F708A}">
      <dgm:prSet/>
      <dgm:spPr/>
      <dgm:t>
        <a:bodyPr/>
        <a:lstStyle/>
        <a:p>
          <a:endParaRPr lang="en-US"/>
        </a:p>
      </dgm:t>
    </dgm:pt>
    <dgm:pt modelId="{3F752FBB-6B61-47F0-AC58-77F4091BA68B}" type="sibTrans" cxnId="{538F0B6D-495F-445F-91C1-E3CA409F708A}">
      <dgm:prSet/>
      <dgm:spPr/>
      <dgm:t>
        <a:bodyPr/>
        <a:lstStyle/>
        <a:p>
          <a:endParaRPr lang="en-US"/>
        </a:p>
      </dgm:t>
    </dgm:pt>
    <dgm:pt modelId="{AAAE717F-38C7-4197-A3D3-57CFA3AEF476}">
      <dgm:prSet/>
      <dgm:spPr/>
      <dgm:t>
        <a:bodyPr/>
        <a:lstStyle/>
        <a:p>
          <a:r>
            <a:rPr lang="en-US"/>
            <a:t>Supports transparency, accountability, and adaptive allocation</a:t>
          </a:r>
        </a:p>
      </dgm:t>
    </dgm:pt>
    <dgm:pt modelId="{107597B5-5401-420E-A860-7D1D2CF4D6C4}" type="parTrans" cxnId="{B06B9F4D-70E8-42FB-ABD7-B47E35CF95EA}">
      <dgm:prSet/>
      <dgm:spPr/>
      <dgm:t>
        <a:bodyPr/>
        <a:lstStyle/>
        <a:p>
          <a:endParaRPr lang="en-US"/>
        </a:p>
      </dgm:t>
    </dgm:pt>
    <dgm:pt modelId="{D1556E76-72E7-4727-A860-42DD7269A361}" type="sibTrans" cxnId="{B06B9F4D-70E8-42FB-ABD7-B47E35CF95EA}">
      <dgm:prSet/>
      <dgm:spPr/>
      <dgm:t>
        <a:bodyPr/>
        <a:lstStyle/>
        <a:p>
          <a:endParaRPr lang="en-US"/>
        </a:p>
      </dgm:t>
    </dgm:pt>
    <dgm:pt modelId="{58CF02BB-FBFD-48CA-B93B-E22C071F5845}">
      <dgm:prSet/>
      <dgm:spPr/>
      <dgm:t>
        <a:bodyPr/>
        <a:lstStyle/>
        <a:p>
          <a:r>
            <a:rPr lang="en-US"/>
            <a:t>Scalable, data-light framework with scope for contextual adjustments</a:t>
          </a:r>
        </a:p>
      </dgm:t>
    </dgm:pt>
    <dgm:pt modelId="{2D4B8A2E-2E4D-48C7-9C69-1E2AF5940E14}" type="parTrans" cxnId="{C03616DA-8ABA-433E-9E34-40AF5DF33C5B}">
      <dgm:prSet/>
      <dgm:spPr/>
      <dgm:t>
        <a:bodyPr/>
        <a:lstStyle/>
        <a:p>
          <a:endParaRPr lang="en-US"/>
        </a:p>
      </dgm:t>
    </dgm:pt>
    <dgm:pt modelId="{6C9CE927-FF2F-4A60-B905-7A8689FAF50A}" type="sibTrans" cxnId="{C03616DA-8ABA-433E-9E34-40AF5DF33C5B}">
      <dgm:prSet/>
      <dgm:spPr/>
      <dgm:t>
        <a:bodyPr/>
        <a:lstStyle/>
        <a:p>
          <a:endParaRPr lang="en-US"/>
        </a:p>
      </dgm:t>
    </dgm:pt>
    <dgm:pt modelId="{1B02E29F-9B2A-4992-AD59-5DF16F05D554}" type="pres">
      <dgm:prSet presAssocID="{035334E5-9294-4094-9B1A-AA2D5EC54CEF}" presName="root" presStyleCnt="0">
        <dgm:presLayoutVars>
          <dgm:dir/>
          <dgm:resizeHandles val="exact"/>
        </dgm:presLayoutVars>
      </dgm:prSet>
      <dgm:spPr/>
    </dgm:pt>
    <dgm:pt modelId="{06E388E6-94F4-4428-B878-52FD50FEF8FF}" type="pres">
      <dgm:prSet presAssocID="{6FF751C2-96A1-47CC-AC46-91C5E16CB46A}" presName="compNode" presStyleCnt="0"/>
      <dgm:spPr/>
    </dgm:pt>
    <dgm:pt modelId="{EBFC2F0C-88ED-47F3-8493-6562F548D40F}" type="pres">
      <dgm:prSet presAssocID="{6FF751C2-96A1-47CC-AC46-91C5E16CB4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94ADBC53-31CC-4200-AF7D-6553028FA68F}" type="pres">
      <dgm:prSet presAssocID="{6FF751C2-96A1-47CC-AC46-91C5E16CB46A}" presName="spaceRect" presStyleCnt="0"/>
      <dgm:spPr/>
    </dgm:pt>
    <dgm:pt modelId="{494BF94A-C7AC-4999-9DE4-66621796E217}" type="pres">
      <dgm:prSet presAssocID="{6FF751C2-96A1-47CC-AC46-91C5E16CB46A}" presName="textRect" presStyleLbl="revTx" presStyleIdx="0" presStyleCnt="3">
        <dgm:presLayoutVars>
          <dgm:chMax val="1"/>
          <dgm:chPref val="1"/>
        </dgm:presLayoutVars>
      </dgm:prSet>
      <dgm:spPr/>
    </dgm:pt>
    <dgm:pt modelId="{17C58CA9-CBBC-480C-86C7-020896C9EE4A}" type="pres">
      <dgm:prSet presAssocID="{3F752FBB-6B61-47F0-AC58-77F4091BA68B}" presName="sibTrans" presStyleCnt="0"/>
      <dgm:spPr/>
    </dgm:pt>
    <dgm:pt modelId="{12D348BE-DEF0-42D0-8851-9E2311B19113}" type="pres">
      <dgm:prSet presAssocID="{AAAE717F-38C7-4197-A3D3-57CFA3AEF476}" presName="compNode" presStyleCnt="0"/>
      <dgm:spPr/>
    </dgm:pt>
    <dgm:pt modelId="{400357BD-1B72-4E2E-BE42-CF58D383FC88}" type="pres">
      <dgm:prSet presAssocID="{AAAE717F-38C7-4197-A3D3-57CFA3AEF47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ADA2774-B8B2-45E7-9583-86FC8096BC1E}" type="pres">
      <dgm:prSet presAssocID="{AAAE717F-38C7-4197-A3D3-57CFA3AEF476}" presName="spaceRect" presStyleCnt="0"/>
      <dgm:spPr/>
    </dgm:pt>
    <dgm:pt modelId="{D636557E-5DBA-4D72-AD11-42F5E8E32C4F}" type="pres">
      <dgm:prSet presAssocID="{AAAE717F-38C7-4197-A3D3-57CFA3AEF476}" presName="textRect" presStyleLbl="revTx" presStyleIdx="1" presStyleCnt="3">
        <dgm:presLayoutVars>
          <dgm:chMax val="1"/>
          <dgm:chPref val="1"/>
        </dgm:presLayoutVars>
      </dgm:prSet>
      <dgm:spPr/>
    </dgm:pt>
    <dgm:pt modelId="{DAA41F68-7B10-4452-8092-F2FEEF6A3E08}" type="pres">
      <dgm:prSet presAssocID="{D1556E76-72E7-4727-A860-42DD7269A361}" presName="sibTrans" presStyleCnt="0"/>
      <dgm:spPr/>
    </dgm:pt>
    <dgm:pt modelId="{02C34C03-7AEB-4DF8-813F-87CCA6B7817A}" type="pres">
      <dgm:prSet presAssocID="{58CF02BB-FBFD-48CA-B93B-E22C071F5845}" presName="compNode" presStyleCnt="0"/>
      <dgm:spPr/>
    </dgm:pt>
    <dgm:pt modelId="{23A7D8C1-1489-4AE4-A43F-55DAA3647831}" type="pres">
      <dgm:prSet presAssocID="{58CF02BB-FBFD-48CA-B93B-E22C071F584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bow"/>
        </a:ext>
      </dgm:extLst>
    </dgm:pt>
    <dgm:pt modelId="{4ED13B08-9D51-4D6C-9F56-882BF9A92DED}" type="pres">
      <dgm:prSet presAssocID="{58CF02BB-FBFD-48CA-B93B-E22C071F5845}" presName="spaceRect" presStyleCnt="0"/>
      <dgm:spPr/>
    </dgm:pt>
    <dgm:pt modelId="{A1683E9B-3A80-4694-B5FC-41072D9598AF}" type="pres">
      <dgm:prSet presAssocID="{58CF02BB-FBFD-48CA-B93B-E22C071F584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38F0B6D-495F-445F-91C1-E3CA409F708A}" srcId="{035334E5-9294-4094-9B1A-AA2D5EC54CEF}" destId="{6FF751C2-96A1-47CC-AC46-91C5E16CB46A}" srcOrd="0" destOrd="0" parTransId="{AC6BE224-7F43-419D-A620-579F16101832}" sibTransId="{3F752FBB-6B61-47F0-AC58-77F4091BA68B}"/>
    <dgm:cxn modelId="{B06B9F4D-70E8-42FB-ABD7-B47E35CF95EA}" srcId="{035334E5-9294-4094-9B1A-AA2D5EC54CEF}" destId="{AAAE717F-38C7-4197-A3D3-57CFA3AEF476}" srcOrd="1" destOrd="0" parTransId="{107597B5-5401-420E-A860-7D1D2CF4D6C4}" sibTransId="{D1556E76-72E7-4727-A860-42DD7269A361}"/>
    <dgm:cxn modelId="{D1C3F686-C160-40F1-B763-B52D81B0ED02}" type="presOf" srcId="{AAAE717F-38C7-4197-A3D3-57CFA3AEF476}" destId="{D636557E-5DBA-4D72-AD11-42F5E8E32C4F}" srcOrd="0" destOrd="0" presId="urn:microsoft.com/office/officeart/2018/2/layout/IconLabelList"/>
    <dgm:cxn modelId="{26B97C99-476F-4D27-9732-35B93B9C95FE}" type="presOf" srcId="{035334E5-9294-4094-9B1A-AA2D5EC54CEF}" destId="{1B02E29F-9B2A-4992-AD59-5DF16F05D554}" srcOrd="0" destOrd="0" presId="urn:microsoft.com/office/officeart/2018/2/layout/IconLabelList"/>
    <dgm:cxn modelId="{A4B3249D-85F2-44AC-82F6-3E42153925E2}" type="presOf" srcId="{58CF02BB-FBFD-48CA-B93B-E22C071F5845}" destId="{A1683E9B-3A80-4694-B5FC-41072D9598AF}" srcOrd="0" destOrd="0" presId="urn:microsoft.com/office/officeart/2018/2/layout/IconLabelList"/>
    <dgm:cxn modelId="{C03616DA-8ABA-433E-9E34-40AF5DF33C5B}" srcId="{035334E5-9294-4094-9B1A-AA2D5EC54CEF}" destId="{58CF02BB-FBFD-48CA-B93B-E22C071F5845}" srcOrd="2" destOrd="0" parTransId="{2D4B8A2E-2E4D-48C7-9C69-1E2AF5940E14}" sibTransId="{6C9CE927-FF2F-4A60-B905-7A8689FAF50A}"/>
    <dgm:cxn modelId="{5D1E4BEC-E7B3-4800-B7F7-A40813831F08}" type="presOf" srcId="{6FF751C2-96A1-47CC-AC46-91C5E16CB46A}" destId="{494BF94A-C7AC-4999-9DE4-66621796E217}" srcOrd="0" destOrd="0" presId="urn:microsoft.com/office/officeart/2018/2/layout/IconLabelList"/>
    <dgm:cxn modelId="{D2E0B416-9DE5-4BA2-84F7-04669186DC41}" type="presParOf" srcId="{1B02E29F-9B2A-4992-AD59-5DF16F05D554}" destId="{06E388E6-94F4-4428-B878-52FD50FEF8FF}" srcOrd="0" destOrd="0" presId="urn:microsoft.com/office/officeart/2018/2/layout/IconLabelList"/>
    <dgm:cxn modelId="{E1CEA6EA-5BEF-489E-B9C9-F248FF8B7DCC}" type="presParOf" srcId="{06E388E6-94F4-4428-B878-52FD50FEF8FF}" destId="{EBFC2F0C-88ED-47F3-8493-6562F548D40F}" srcOrd="0" destOrd="0" presId="urn:microsoft.com/office/officeart/2018/2/layout/IconLabelList"/>
    <dgm:cxn modelId="{DAB968E1-25A5-43E1-A565-7BD65543C11F}" type="presParOf" srcId="{06E388E6-94F4-4428-B878-52FD50FEF8FF}" destId="{94ADBC53-31CC-4200-AF7D-6553028FA68F}" srcOrd="1" destOrd="0" presId="urn:microsoft.com/office/officeart/2018/2/layout/IconLabelList"/>
    <dgm:cxn modelId="{4A1708DB-D887-44FB-BC22-6E8AEBB19534}" type="presParOf" srcId="{06E388E6-94F4-4428-B878-52FD50FEF8FF}" destId="{494BF94A-C7AC-4999-9DE4-66621796E217}" srcOrd="2" destOrd="0" presId="urn:microsoft.com/office/officeart/2018/2/layout/IconLabelList"/>
    <dgm:cxn modelId="{FDC75E3D-31A4-4059-9ABD-12417732314F}" type="presParOf" srcId="{1B02E29F-9B2A-4992-AD59-5DF16F05D554}" destId="{17C58CA9-CBBC-480C-86C7-020896C9EE4A}" srcOrd="1" destOrd="0" presId="urn:microsoft.com/office/officeart/2018/2/layout/IconLabelList"/>
    <dgm:cxn modelId="{7B45F28F-D384-4729-A67E-84F23C1FC0A7}" type="presParOf" srcId="{1B02E29F-9B2A-4992-AD59-5DF16F05D554}" destId="{12D348BE-DEF0-42D0-8851-9E2311B19113}" srcOrd="2" destOrd="0" presId="urn:microsoft.com/office/officeart/2018/2/layout/IconLabelList"/>
    <dgm:cxn modelId="{40081227-CD9D-4B1F-819E-F061D323CCA0}" type="presParOf" srcId="{12D348BE-DEF0-42D0-8851-9E2311B19113}" destId="{400357BD-1B72-4E2E-BE42-CF58D383FC88}" srcOrd="0" destOrd="0" presId="urn:microsoft.com/office/officeart/2018/2/layout/IconLabelList"/>
    <dgm:cxn modelId="{CEDF8CD3-48D3-430A-9390-E5E0C39B2297}" type="presParOf" srcId="{12D348BE-DEF0-42D0-8851-9E2311B19113}" destId="{CADA2774-B8B2-45E7-9583-86FC8096BC1E}" srcOrd="1" destOrd="0" presId="urn:microsoft.com/office/officeart/2018/2/layout/IconLabelList"/>
    <dgm:cxn modelId="{2A0BAEFD-4622-48FA-9F6D-A738DCB2B166}" type="presParOf" srcId="{12D348BE-DEF0-42D0-8851-9E2311B19113}" destId="{D636557E-5DBA-4D72-AD11-42F5E8E32C4F}" srcOrd="2" destOrd="0" presId="urn:microsoft.com/office/officeart/2018/2/layout/IconLabelList"/>
    <dgm:cxn modelId="{A060326D-9FED-48FE-879F-F61A60F4437E}" type="presParOf" srcId="{1B02E29F-9B2A-4992-AD59-5DF16F05D554}" destId="{DAA41F68-7B10-4452-8092-F2FEEF6A3E08}" srcOrd="3" destOrd="0" presId="urn:microsoft.com/office/officeart/2018/2/layout/IconLabelList"/>
    <dgm:cxn modelId="{1D1FDFCF-3B39-4EDC-9E1B-62C02144DCB7}" type="presParOf" srcId="{1B02E29F-9B2A-4992-AD59-5DF16F05D554}" destId="{02C34C03-7AEB-4DF8-813F-87CCA6B7817A}" srcOrd="4" destOrd="0" presId="urn:microsoft.com/office/officeart/2018/2/layout/IconLabelList"/>
    <dgm:cxn modelId="{8BB611DC-22B0-43D6-A5D0-953507DEDD15}" type="presParOf" srcId="{02C34C03-7AEB-4DF8-813F-87CCA6B7817A}" destId="{23A7D8C1-1489-4AE4-A43F-55DAA3647831}" srcOrd="0" destOrd="0" presId="urn:microsoft.com/office/officeart/2018/2/layout/IconLabelList"/>
    <dgm:cxn modelId="{6BE4CB10-7C48-4679-8BBA-ED6FAA2D781D}" type="presParOf" srcId="{02C34C03-7AEB-4DF8-813F-87CCA6B7817A}" destId="{4ED13B08-9D51-4D6C-9F56-882BF9A92DED}" srcOrd="1" destOrd="0" presId="urn:microsoft.com/office/officeart/2018/2/layout/IconLabelList"/>
    <dgm:cxn modelId="{BAB2013A-FD70-421C-B4C0-67A497A63A07}" type="presParOf" srcId="{02C34C03-7AEB-4DF8-813F-87CCA6B7817A}" destId="{A1683E9B-3A80-4694-B5FC-41072D9598A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CE8502-1F33-2948-9D54-EA753CB30C3C}">
      <dsp:nvSpPr>
        <dsp:cNvPr id="0" name=""/>
        <dsp:cNvSpPr/>
      </dsp:nvSpPr>
      <dsp:spPr>
        <a:xfrm>
          <a:off x="0" y="195494"/>
          <a:ext cx="6094785" cy="1113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Humanitarian budgets span multiple countries, clusters, and donors</a:t>
          </a:r>
        </a:p>
      </dsp:txBody>
      <dsp:txXfrm>
        <a:off x="54373" y="249867"/>
        <a:ext cx="5986039" cy="1005094"/>
      </dsp:txXfrm>
    </dsp:sp>
    <dsp:sp modelId="{665B12DE-410B-CE41-8F0B-3BBF00470CA4}">
      <dsp:nvSpPr>
        <dsp:cNvPr id="0" name=""/>
        <dsp:cNvSpPr/>
      </dsp:nvSpPr>
      <dsp:spPr>
        <a:xfrm>
          <a:off x="0" y="1389975"/>
          <a:ext cx="6094785" cy="111384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Efficiency comparison is hindered by scale, geography, and program diversity</a:t>
          </a:r>
        </a:p>
      </dsp:txBody>
      <dsp:txXfrm>
        <a:off x="54373" y="1444348"/>
        <a:ext cx="5986039" cy="1005094"/>
      </dsp:txXfrm>
    </dsp:sp>
    <dsp:sp modelId="{BFDF205F-B563-0646-8948-BA0113BE271D}">
      <dsp:nvSpPr>
        <dsp:cNvPr id="0" name=""/>
        <dsp:cNvSpPr/>
      </dsp:nvSpPr>
      <dsp:spPr>
        <a:xfrm>
          <a:off x="0" y="2584454"/>
          <a:ext cx="6094785" cy="111384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 standardized, transparent efficiency metric is needed</a:t>
          </a:r>
        </a:p>
      </dsp:txBody>
      <dsp:txXfrm>
        <a:off x="54373" y="2638827"/>
        <a:ext cx="5986039" cy="10050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0A35C1-E5A3-6C44-81AE-F25A1E516501}">
      <dsp:nvSpPr>
        <dsp:cNvPr id="0" name=""/>
        <dsp:cNvSpPr/>
      </dsp:nvSpPr>
      <dsp:spPr>
        <a:xfrm>
          <a:off x="0" y="0"/>
          <a:ext cx="3286125" cy="394887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Datasets: CERF allocations, CERF donor contributions, CBPF project data</a:t>
          </a:r>
        </a:p>
      </dsp:txBody>
      <dsp:txXfrm>
        <a:off x="0" y="1500572"/>
        <a:ext cx="3286125" cy="2369325"/>
      </dsp:txXfrm>
    </dsp:sp>
    <dsp:sp modelId="{8F813E7C-1696-D241-B870-741727CF2487}">
      <dsp:nvSpPr>
        <dsp:cNvPr id="0" name=""/>
        <dsp:cNvSpPr/>
      </dsp:nvSpPr>
      <dsp:spPr>
        <a:xfrm>
          <a:off x="1050731" y="394887"/>
          <a:ext cx="1184662" cy="11846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361" tIns="12700" rIns="9236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24221" y="568377"/>
        <a:ext cx="837682" cy="837682"/>
      </dsp:txXfrm>
    </dsp:sp>
    <dsp:sp modelId="{B0359CE2-95DC-ED47-AD9C-885016DB1339}">
      <dsp:nvSpPr>
        <dsp:cNvPr id="0" name=""/>
        <dsp:cNvSpPr/>
      </dsp:nvSpPr>
      <dsp:spPr>
        <a:xfrm>
          <a:off x="0" y="3948804"/>
          <a:ext cx="3286125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694A9A-F07D-C746-AB5B-C9ABA79A00C6}">
      <dsp:nvSpPr>
        <dsp:cNvPr id="0" name=""/>
        <dsp:cNvSpPr/>
      </dsp:nvSpPr>
      <dsp:spPr>
        <a:xfrm>
          <a:off x="3614737" y="0"/>
          <a:ext cx="3286125" cy="394887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Metric: Cost per Beneficiary = Implementation Cost / Beneficiaries Reached</a:t>
          </a:r>
        </a:p>
      </dsp:txBody>
      <dsp:txXfrm>
        <a:off x="3614737" y="1500572"/>
        <a:ext cx="3286125" cy="2369325"/>
      </dsp:txXfrm>
    </dsp:sp>
    <dsp:sp modelId="{231D7BCF-C089-794F-B351-95DD0DB718C2}">
      <dsp:nvSpPr>
        <dsp:cNvPr id="0" name=""/>
        <dsp:cNvSpPr/>
      </dsp:nvSpPr>
      <dsp:spPr>
        <a:xfrm>
          <a:off x="4665468" y="394887"/>
          <a:ext cx="1184662" cy="11846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361" tIns="12700" rIns="9236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838958" y="568377"/>
        <a:ext cx="837682" cy="837682"/>
      </dsp:txXfrm>
    </dsp:sp>
    <dsp:sp modelId="{E3C19079-7E1D-414D-B348-BD19B6901F50}">
      <dsp:nvSpPr>
        <dsp:cNvPr id="0" name=""/>
        <dsp:cNvSpPr/>
      </dsp:nvSpPr>
      <dsp:spPr>
        <a:xfrm>
          <a:off x="3614737" y="3948804"/>
          <a:ext cx="3286125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0B2A8-FEC9-634A-A51B-D56E92DF2404}">
      <dsp:nvSpPr>
        <dsp:cNvPr id="0" name=""/>
        <dsp:cNvSpPr/>
      </dsp:nvSpPr>
      <dsp:spPr>
        <a:xfrm>
          <a:off x="7229475" y="0"/>
          <a:ext cx="3286125" cy="3948876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Log-scale normalization and IQR-based outlier detection</a:t>
          </a:r>
        </a:p>
      </dsp:txBody>
      <dsp:txXfrm>
        <a:off x="7229475" y="1500572"/>
        <a:ext cx="3286125" cy="2369325"/>
      </dsp:txXfrm>
    </dsp:sp>
    <dsp:sp modelId="{F54A5F30-9707-5C4C-AF5F-AD0AF3D4D6EC}">
      <dsp:nvSpPr>
        <dsp:cNvPr id="0" name=""/>
        <dsp:cNvSpPr/>
      </dsp:nvSpPr>
      <dsp:spPr>
        <a:xfrm>
          <a:off x="8280206" y="394887"/>
          <a:ext cx="1184662" cy="118466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361" tIns="12700" rIns="9236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53696" y="568377"/>
        <a:ext cx="837682" cy="837682"/>
      </dsp:txXfrm>
    </dsp:sp>
    <dsp:sp modelId="{FDDE0216-066B-BE43-94B7-02E6BA09EF1E}">
      <dsp:nvSpPr>
        <dsp:cNvPr id="0" name=""/>
        <dsp:cNvSpPr/>
      </dsp:nvSpPr>
      <dsp:spPr>
        <a:xfrm>
          <a:off x="7229475" y="3948804"/>
          <a:ext cx="3286125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A65C0A-007E-42DF-8390-0DA9D631DDE6}">
      <dsp:nvSpPr>
        <dsp:cNvPr id="0" name=""/>
        <dsp:cNvSpPr/>
      </dsp:nvSpPr>
      <dsp:spPr>
        <a:xfrm>
          <a:off x="679050" y="376937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9A8638-E729-4E60-96ED-0B7117D04BFF}">
      <dsp:nvSpPr>
        <dsp:cNvPr id="0" name=""/>
        <dsp:cNvSpPr/>
      </dsp:nvSpPr>
      <dsp:spPr>
        <a:xfrm>
          <a:off x="1081237" y="779125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250D03-C7CA-4C00-AD90-CE8C3675EE76}">
      <dsp:nvSpPr>
        <dsp:cNvPr id="0" name=""/>
        <dsp:cNvSpPr/>
      </dsp:nvSpPr>
      <dsp:spPr>
        <a:xfrm>
          <a:off x="75768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Wide distribution of cost per beneficiary across projects</a:t>
          </a:r>
        </a:p>
      </dsp:txBody>
      <dsp:txXfrm>
        <a:off x="75768" y="2851938"/>
        <a:ext cx="3093750" cy="720000"/>
      </dsp:txXfrm>
    </dsp:sp>
    <dsp:sp modelId="{B16E208C-0309-424F-84B9-7C1AE539B21D}">
      <dsp:nvSpPr>
        <dsp:cNvPr id="0" name=""/>
        <dsp:cNvSpPr/>
      </dsp:nvSpPr>
      <dsp:spPr>
        <a:xfrm>
          <a:off x="4314206" y="376937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D1C473-AD95-48AD-9BA5-9918A7B55FB3}">
      <dsp:nvSpPr>
        <dsp:cNvPr id="0" name=""/>
        <dsp:cNvSpPr/>
      </dsp:nvSpPr>
      <dsp:spPr>
        <a:xfrm>
          <a:off x="4716393" y="779125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5F002A-3E45-4D60-A0D8-383295DCCE95}">
      <dsp:nvSpPr>
        <dsp:cNvPr id="0" name=""/>
        <dsp:cNvSpPr/>
      </dsp:nvSpPr>
      <dsp:spPr>
        <a:xfrm>
          <a:off x="3710925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Strong heterogeneity across allocation categories</a:t>
          </a:r>
        </a:p>
      </dsp:txBody>
      <dsp:txXfrm>
        <a:off x="3710925" y="2851938"/>
        <a:ext cx="3093750" cy="720000"/>
      </dsp:txXfrm>
    </dsp:sp>
    <dsp:sp modelId="{AC348F8D-D560-424E-9BC7-08ED60E7DD1C}">
      <dsp:nvSpPr>
        <dsp:cNvPr id="0" name=""/>
        <dsp:cNvSpPr/>
      </dsp:nvSpPr>
      <dsp:spPr>
        <a:xfrm>
          <a:off x="7949362" y="376937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3B90D-BC01-4DD4-ABA7-853CDE403809}">
      <dsp:nvSpPr>
        <dsp:cNvPr id="0" name=""/>
        <dsp:cNvSpPr/>
      </dsp:nvSpPr>
      <dsp:spPr>
        <a:xfrm>
          <a:off x="8351550" y="779125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42DA5-8D10-4888-8536-C43CFE723E0D}">
      <dsp:nvSpPr>
        <dsp:cNvPr id="0" name=""/>
        <dsp:cNvSpPr/>
      </dsp:nvSpPr>
      <dsp:spPr>
        <a:xfrm>
          <a:off x="7346081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Some categories show persistently high median costs and variance</a:t>
          </a:r>
        </a:p>
      </dsp:txBody>
      <dsp:txXfrm>
        <a:off x="7346081" y="2851938"/>
        <a:ext cx="3093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874C92-AEC9-524D-A386-3325F6D12567}">
      <dsp:nvSpPr>
        <dsp:cNvPr id="0" name=""/>
        <dsp:cNvSpPr/>
      </dsp:nvSpPr>
      <dsp:spPr>
        <a:xfrm>
          <a:off x="1518935" y="2124"/>
          <a:ext cx="1708802" cy="140228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Certain regions and country-based pooled funds show high outlier rates</a:t>
          </a:r>
        </a:p>
      </dsp:txBody>
      <dsp:txXfrm>
        <a:off x="1587389" y="70578"/>
        <a:ext cx="1571894" cy="1265378"/>
      </dsp:txXfrm>
    </dsp:sp>
    <dsp:sp modelId="{B53A949B-7025-D64A-A561-57F19CC3D53C}">
      <dsp:nvSpPr>
        <dsp:cNvPr id="0" name=""/>
        <dsp:cNvSpPr/>
      </dsp:nvSpPr>
      <dsp:spPr>
        <a:xfrm>
          <a:off x="1518935" y="1474525"/>
          <a:ext cx="1708802" cy="1402286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Median cost per beneficiary varies substantially by cluster</a:t>
          </a:r>
        </a:p>
      </dsp:txBody>
      <dsp:txXfrm>
        <a:off x="1587389" y="1542979"/>
        <a:ext cx="1571894" cy="1265378"/>
      </dsp:txXfrm>
    </dsp:sp>
    <dsp:sp modelId="{0927A551-68D8-1547-9D01-BCE4BA1B256A}">
      <dsp:nvSpPr>
        <dsp:cNvPr id="0" name=""/>
        <dsp:cNvSpPr/>
      </dsp:nvSpPr>
      <dsp:spPr>
        <a:xfrm>
          <a:off x="1518935" y="2946926"/>
          <a:ext cx="1708802" cy="1402286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High outlier rates may reflect inefficiency or contextual constraints</a:t>
          </a:r>
        </a:p>
      </dsp:txBody>
      <dsp:txXfrm>
        <a:off x="1587389" y="3015380"/>
        <a:ext cx="1571894" cy="12653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25A80D-4AAD-4B44-B68B-9DB96D6E7C02}">
      <dsp:nvSpPr>
        <dsp:cNvPr id="0" name=""/>
        <dsp:cNvSpPr/>
      </dsp:nvSpPr>
      <dsp:spPr>
        <a:xfrm>
          <a:off x="0" y="5895"/>
          <a:ext cx="5393361" cy="139851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Top CERF donors account for a large share of total contributions</a:t>
          </a:r>
        </a:p>
      </dsp:txBody>
      <dsp:txXfrm>
        <a:off x="68270" y="74165"/>
        <a:ext cx="5256821" cy="1261975"/>
      </dsp:txXfrm>
    </dsp:sp>
    <dsp:sp modelId="{607218EF-955D-324B-88EE-0ED9326613AA}">
      <dsp:nvSpPr>
        <dsp:cNvPr id="0" name=""/>
        <dsp:cNvSpPr/>
      </dsp:nvSpPr>
      <dsp:spPr>
        <a:xfrm>
          <a:off x="0" y="1476411"/>
          <a:ext cx="5393361" cy="1398515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Funding concentration contrasts with geographically diffuse humanitarian needs</a:t>
          </a:r>
        </a:p>
      </dsp:txBody>
      <dsp:txXfrm>
        <a:off x="68270" y="1544681"/>
        <a:ext cx="5256821" cy="1261975"/>
      </dsp:txXfrm>
    </dsp:sp>
    <dsp:sp modelId="{F434B8F0-C090-6446-BFDB-D6B81F9F812C}">
      <dsp:nvSpPr>
        <dsp:cNvPr id="0" name=""/>
        <dsp:cNvSpPr/>
      </dsp:nvSpPr>
      <dsp:spPr>
        <a:xfrm>
          <a:off x="0" y="2946926"/>
          <a:ext cx="5393361" cy="1398515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Global donor map highlights unequal contribution patterns</a:t>
          </a:r>
        </a:p>
      </dsp:txBody>
      <dsp:txXfrm>
        <a:off x="68270" y="3015196"/>
        <a:ext cx="5256821" cy="12619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BB28F3-2AB7-1948-B6D0-855A6660B419}">
      <dsp:nvSpPr>
        <dsp:cNvPr id="0" name=""/>
        <dsp:cNvSpPr/>
      </dsp:nvSpPr>
      <dsp:spPr>
        <a:xfrm>
          <a:off x="1078672" y="1359"/>
          <a:ext cx="4314688" cy="139378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17" tIns="354022" rIns="83717" bIns="35402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Compute cost per beneficiary for all projects</a:t>
          </a:r>
        </a:p>
      </dsp:txBody>
      <dsp:txXfrm>
        <a:off x="1078672" y="1359"/>
        <a:ext cx="4314688" cy="1393787"/>
      </dsp:txXfrm>
    </dsp:sp>
    <dsp:sp modelId="{D42A89AF-BB69-6342-B5CB-A3F5AD977E65}">
      <dsp:nvSpPr>
        <dsp:cNvPr id="0" name=""/>
        <dsp:cNvSpPr/>
      </dsp:nvSpPr>
      <dsp:spPr>
        <a:xfrm>
          <a:off x="0" y="1359"/>
          <a:ext cx="1078672" cy="139378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80" tIns="137675" rIns="57080" bIns="13767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Compute</a:t>
          </a:r>
        </a:p>
      </dsp:txBody>
      <dsp:txXfrm>
        <a:off x="0" y="1359"/>
        <a:ext cx="1078672" cy="1393787"/>
      </dsp:txXfrm>
    </dsp:sp>
    <dsp:sp modelId="{F3051E99-3870-194F-86C0-47B2DB5E35F5}">
      <dsp:nvSpPr>
        <dsp:cNvPr id="0" name=""/>
        <dsp:cNvSpPr/>
      </dsp:nvSpPr>
      <dsp:spPr>
        <a:xfrm>
          <a:off x="1078672" y="1478775"/>
          <a:ext cx="4314688" cy="1393787"/>
        </a:xfrm>
        <a:prstGeom prst="rect">
          <a:avLst/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17" tIns="354022" rIns="83717" bIns="35402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Normalize costs using log scaling and flag statistical outliers</a:t>
          </a:r>
        </a:p>
      </dsp:txBody>
      <dsp:txXfrm>
        <a:off x="1078672" y="1478775"/>
        <a:ext cx="4314688" cy="1393787"/>
      </dsp:txXfrm>
    </dsp:sp>
    <dsp:sp modelId="{58EBC079-F7D9-7A4F-8585-0A45C34BFEF8}">
      <dsp:nvSpPr>
        <dsp:cNvPr id="0" name=""/>
        <dsp:cNvSpPr/>
      </dsp:nvSpPr>
      <dsp:spPr>
        <a:xfrm>
          <a:off x="0" y="1478775"/>
          <a:ext cx="1078672" cy="1393787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80" tIns="137675" rIns="57080" bIns="13767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Normalize</a:t>
          </a:r>
        </a:p>
      </dsp:txBody>
      <dsp:txXfrm>
        <a:off x="0" y="1478775"/>
        <a:ext cx="1078672" cy="1393787"/>
      </dsp:txXfrm>
    </dsp:sp>
    <dsp:sp modelId="{5EDFDBB1-30D7-0545-9688-41C4DE5D97CE}">
      <dsp:nvSpPr>
        <dsp:cNvPr id="0" name=""/>
        <dsp:cNvSpPr/>
      </dsp:nvSpPr>
      <dsp:spPr>
        <a:xfrm>
          <a:off x="1078672" y="2956190"/>
          <a:ext cx="4314688" cy="1393787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17" tIns="354022" rIns="83717" bIns="35402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Compare efficiency across clusters, regions, and time for monitoring</a:t>
          </a:r>
        </a:p>
      </dsp:txBody>
      <dsp:txXfrm>
        <a:off x="1078672" y="2956190"/>
        <a:ext cx="4314688" cy="1393787"/>
      </dsp:txXfrm>
    </dsp:sp>
    <dsp:sp modelId="{7DEF2BD4-8D94-8348-8C82-7B85A0DCB543}">
      <dsp:nvSpPr>
        <dsp:cNvPr id="0" name=""/>
        <dsp:cNvSpPr/>
      </dsp:nvSpPr>
      <dsp:spPr>
        <a:xfrm>
          <a:off x="0" y="2956190"/>
          <a:ext cx="1078672" cy="1393787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80" tIns="137675" rIns="57080" bIns="13767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Compare</a:t>
          </a:r>
        </a:p>
      </dsp:txBody>
      <dsp:txXfrm>
        <a:off x="0" y="2956190"/>
        <a:ext cx="1078672" cy="139378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FC2F0C-88ED-47F3-8493-6562F548D40F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4BF94A-C7AC-4999-9DE4-66621796E217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Enables evidence-based monitoring of humanitarian efficiency</a:t>
          </a:r>
        </a:p>
      </dsp:txBody>
      <dsp:txXfrm>
        <a:off x="417971" y="2644140"/>
        <a:ext cx="2889450" cy="720000"/>
      </dsp:txXfrm>
    </dsp:sp>
    <dsp:sp modelId="{400357BD-1B72-4E2E-BE42-CF58D383FC88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6557E-5DBA-4D72-AD11-42F5E8E32C4F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Supports transparency, accountability, and adaptive allocation</a:t>
          </a:r>
        </a:p>
      </dsp:txBody>
      <dsp:txXfrm>
        <a:off x="3813075" y="2644140"/>
        <a:ext cx="2889450" cy="720000"/>
      </dsp:txXfrm>
    </dsp:sp>
    <dsp:sp modelId="{23A7D8C1-1489-4AE4-A43F-55DAA3647831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83E9B-3A80-4694-B5FC-41072D9598AF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Scalable, data-light framework with scope for contextual adjustments</a:t>
          </a:r>
        </a:p>
      </dsp:txBody>
      <dsp:txXfrm>
        <a:off x="7208178" y="2644140"/>
        <a:ext cx="28894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F0DCE-B6AD-3945-8141-046CD8085142}" type="datetimeFigureOut">
              <a:rPr lang="en-US" smtClean="0"/>
              <a:t>13-Mar-26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EA5349-1823-1848-B1F2-3D74ADFCD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975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“Hello everyone, we’re Team Storm Breakers.</a:t>
            </a:r>
            <a:br>
              <a:rPr lang="en-US"/>
            </a:br>
            <a:r>
              <a:rPr lang="en-US"/>
              <a:t>Our project is </a:t>
            </a:r>
            <a:r>
              <a:rPr lang="en-US" i="1"/>
              <a:t>Evaluating Efficiency in Humanitarian Funding</a:t>
            </a:r>
            <a:r>
              <a:rPr lang="en-US"/>
              <a:t>.</a:t>
            </a:r>
            <a:br>
              <a:rPr lang="en-US"/>
            </a:br>
            <a:r>
              <a:rPr lang="en-US"/>
              <a:t>The core idea is simple: when humanitarian funds are limited and needs are vast, how do we ensure money is reaching the maximum number of beneficiaries efficiently?</a:t>
            </a:r>
            <a:br>
              <a:rPr lang="en-US"/>
            </a:br>
            <a:r>
              <a:rPr lang="en-US"/>
              <a:t>We propose a data-driven, standardized framework to help answer that.”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349-1823-1848-B1F2-3D74ADFCD9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428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“Humanitarian funding operates across many countries, clusters, and donors.</a:t>
            </a:r>
            <a:br>
              <a:rPr lang="en-US"/>
            </a:br>
            <a:r>
              <a:rPr lang="en-US"/>
              <a:t>Because of differences in scale, geography, and program design, comparing efficiency across projects is extremely difficult.</a:t>
            </a:r>
            <a:br>
              <a:rPr lang="en-US"/>
            </a:br>
            <a:r>
              <a:rPr lang="en-US"/>
              <a:t>Today, there is no simple, transparent metric that allows decision-makers to consistently evaluate efficiency.</a:t>
            </a:r>
            <a:br>
              <a:rPr lang="en-US"/>
            </a:br>
            <a:r>
              <a:rPr lang="en-US"/>
              <a:t>Our goal is to fill that gap.”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349-1823-1848-B1F2-3D74ADFCD9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69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“We use three UN datasets: CERF allocations, CERF donor contributions, and CBPF project-level data.</a:t>
            </a:r>
          </a:p>
          <a:p>
            <a:r>
              <a:rPr lang="en-US"/>
              <a:t>Our key metric is </a:t>
            </a:r>
            <a:r>
              <a:rPr lang="en-US" b="1"/>
              <a:t>Cost per Beneficiary</a:t>
            </a:r>
            <a:r>
              <a:rPr lang="en-US"/>
              <a:t>, calculated as implementation cost spent divided by beneficiaries reached.</a:t>
            </a:r>
          </a:p>
          <a:p>
            <a:r>
              <a:rPr lang="en-US"/>
              <a:t>Because costs are highly skewed, we use log-scale normalization and detect statistical outliers using the interquartile range method.”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349-1823-1848-B1F2-3D74ADFCD9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19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“Before diving into visuals, three headline findings stand out.</a:t>
            </a:r>
          </a:p>
          <a:p>
            <a:r>
              <a:rPr lang="en-US"/>
              <a:t>First, cost per beneficiary varies widely across projects.</a:t>
            </a:r>
            <a:br>
              <a:rPr lang="en-US"/>
            </a:br>
            <a:r>
              <a:rPr lang="en-US"/>
              <a:t>Second, allocation categories show very different efficiency patterns.</a:t>
            </a:r>
            <a:br>
              <a:rPr lang="en-US"/>
            </a:br>
            <a:r>
              <a:rPr lang="en-US"/>
              <a:t>And third, some categories consistently show both high median costs and high variance, suggesting deeper structural or contextual factors.”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349-1823-1848-B1F2-3D74ADFCD9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944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“This chart shows the distribution of cost per beneficiary across all projects.</a:t>
            </a:r>
          </a:p>
          <a:p>
            <a:r>
              <a:rPr lang="en-US"/>
              <a:t>On a log scale, we see a clear right-skewed distribution.</a:t>
            </a:r>
            <a:br>
              <a:rPr lang="en-US"/>
            </a:br>
            <a:r>
              <a:rPr lang="en-US"/>
              <a:t>Most projects cluster around a relatively narrow efficiency band, but there is a long tail of very high-cost projects.</a:t>
            </a:r>
            <a:br>
              <a:rPr lang="en-US"/>
            </a:br>
            <a:r>
              <a:rPr lang="en-US"/>
              <a:t>These are not necessarily bad projects — but they deserve closer review.”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349-1823-1848-B1F2-3D74ADFCD9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75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“Here we break down cost per beneficiary by allocation type.</a:t>
            </a:r>
          </a:p>
          <a:p>
            <a:r>
              <a:rPr lang="en-US"/>
              <a:t>The medians differ substantially across categories, and so does the spread.</a:t>
            </a:r>
            <a:br>
              <a:rPr lang="en-US"/>
            </a:br>
            <a:r>
              <a:rPr lang="en-US"/>
              <a:t>For example, logistics-heavy or coordination-focused categories show higher median costs and wider variability than frontline service delivery.</a:t>
            </a:r>
            <a:br>
              <a:rPr lang="en-US"/>
            </a:br>
            <a:r>
              <a:rPr lang="en-US"/>
              <a:t>This tells us efficiency must always be interpreted </a:t>
            </a:r>
            <a:r>
              <a:rPr lang="en-US" i="1"/>
              <a:t>within</a:t>
            </a:r>
            <a:r>
              <a:rPr lang="en-US"/>
              <a:t> context.”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349-1823-1848-B1F2-3D74ADFCD9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15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“This scatter plot shows implementation cost versus beneficiaries reached.</a:t>
            </a:r>
          </a:p>
          <a:p>
            <a:r>
              <a:rPr lang="en-US"/>
              <a:t>Most projects fall within a predictable efficiency band.</a:t>
            </a:r>
            <a:br>
              <a:rPr lang="en-US"/>
            </a:br>
            <a:r>
              <a:rPr lang="en-US"/>
              <a:t>The highlighted points are statistical outliers — projects whose cost per beneficiary is unusually high or low relative to peers.</a:t>
            </a:r>
            <a:br>
              <a:rPr lang="en-US"/>
            </a:br>
            <a:r>
              <a:rPr lang="en-US"/>
              <a:t>These flags are not judgments; they are signals for further review.”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349-1823-1848-B1F2-3D74ADFCD9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90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“Next, we look at efficiency across regions and country-based pooled funds.</a:t>
            </a:r>
          </a:p>
          <a:p>
            <a:r>
              <a:rPr lang="en-US" dirty="0"/>
              <a:t>Some regions consistently show higher outlier rates.</a:t>
            </a:r>
            <a:br>
              <a:rPr lang="en-US" dirty="0"/>
            </a:br>
            <a:r>
              <a:rPr lang="en-US" dirty="0"/>
              <a:t>Median cost per beneficiary also varies meaningfully by cluster.</a:t>
            </a:r>
            <a:br>
              <a:rPr lang="en-US" dirty="0"/>
            </a:br>
            <a:r>
              <a:rPr lang="en-US" dirty="0"/>
              <a:t>Importantly, high outlier rates may reflect inefficiency — or they may reflect conflict intensity, access constraints, or fragile infrastructure.”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349-1823-1848-B1F2-3D74ADFCD9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591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chart compares the </a:t>
            </a:r>
            <a:r>
              <a:rPr lang="en-US" b="1"/>
              <a:t>top ten allocation categories by median cost per beneficiary</a:t>
            </a:r>
            <a:r>
              <a:rPr lang="en-US"/>
              <a:t>, shown on a </a:t>
            </a:r>
            <a:r>
              <a:rPr lang="en-US" b="1"/>
              <a:t>log scale</a:t>
            </a:r>
            <a:r>
              <a:rPr lang="en-US"/>
              <a:t> to handle large differences. Each bar is the median, and the error bars show the interquartile range.</a:t>
            </a:r>
          </a:p>
          <a:p>
            <a:r>
              <a:rPr lang="en-US" b="1"/>
              <a:t>Logs and CCS</a:t>
            </a:r>
            <a:r>
              <a:rPr lang="en-US"/>
              <a:t> stands out with a much higher median cost, reflecting fixed logistics and coordination costs, while </a:t>
            </a:r>
            <a:r>
              <a:rPr lang="en-US" b="1"/>
              <a:t>frontline and pipeline services</a:t>
            </a:r>
            <a:r>
              <a:rPr lang="en-US"/>
              <a:t> cluster around </a:t>
            </a:r>
            <a:r>
              <a:rPr lang="en-US" b="1"/>
              <a:t>$10–20 per beneficiary</a:t>
            </a:r>
            <a:r>
              <a:rPr lang="en-US"/>
              <a:t>, indicating more consistent delivery efficiency. This provides a clear, standardized benchmark for comparing efficiency across categories.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349-1823-1848-B1F2-3D74ADFCD9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467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“Here we focus on country-based pooled funds.</a:t>
            </a:r>
          </a:p>
          <a:p>
            <a:r>
              <a:rPr lang="en-US" dirty="0"/>
              <a:t>On the left, we see outlier rates; on the right, median cost per beneficiary.</a:t>
            </a:r>
            <a:br>
              <a:rPr lang="en-US" dirty="0"/>
            </a:br>
            <a:r>
              <a:rPr lang="en-US" dirty="0"/>
              <a:t>Some contexts — such as Ukraine — show both high median costs and high outlier rates, which is consistent with operating in high-intensity conflict environments.</a:t>
            </a:r>
            <a:br>
              <a:rPr lang="en-US" dirty="0"/>
            </a:br>
            <a:r>
              <a:rPr lang="en-US" dirty="0"/>
              <a:t>This reinforces why benchmarks must be contextual, not punitive.”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349-1823-1848-B1F2-3D74ADFCD9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134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“We then zoom out to the global donor landscape.</a:t>
            </a:r>
          </a:p>
          <a:p>
            <a:r>
              <a:rPr lang="en-US"/>
              <a:t>A small number of donors account for a large share of total CERF funding.</a:t>
            </a:r>
            <a:br>
              <a:rPr lang="en-US"/>
            </a:br>
            <a:r>
              <a:rPr lang="en-US"/>
              <a:t>This concentration contrasts with the geographically diffuse nature of humanitarian needs.</a:t>
            </a:r>
            <a:br>
              <a:rPr lang="en-US"/>
            </a:br>
            <a:r>
              <a:rPr lang="en-US"/>
              <a:t>Understanding this imbalance is crucial for long-term resilience planning.”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349-1823-1848-B1F2-3D74ADFCD9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494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“This global map visualizes total CERF donor contributions by country.</a:t>
            </a:r>
          </a:p>
          <a:p>
            <a:r>
              <a:rPr lang="en-US"/>
              <a:t>Contributions are highly uneven, with a small number of countries providing the majority of funding.</a:t>
            </a:r>
            <a:br>
              <a:rPr lang="en-US"/>
            </a:br>
            <a:r>
              <a:rPr lang="en-US"/>
              <a:t>This visualization helps contextualize funding capacity and global responsibility.”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349-1823-1848-B1F2-3D74ADFCD9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339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“This chart highlights the top ten CERF donors by total contributions.</a:t>
            </a:r>
          </a:p>
          <a:p>
            <a:r>
              <a:rPr lang="en-US"/>
              <a:t>While these donors play a critical role, reliance on a narrow donor base introduces systemic risk.</a:t>
            </a:r>
            <a:br>
              <a:rPr lang="en-US"/>
            </a:br>
            <a:r>
              <a:rPr lang="en-US"/>
              <a:t>Diversifying funding sources could improve stability during global shocks.”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349-1823-1848-B1F2-3D74ADFCD9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9044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“This chart shows how CERF funds are allocated across humanitarian clusters.</a:t>
            </a:r>
          </a:p>
          <a:p>
            <a:r>
              <a:rPr lang="en-US"/>
              <a:t>Food assistance and health dominate allocations, reflecting urgent humanitarian priorities.</a:t>
            </a:r>
            <a:br>
              <a:rPr lang="en-US"/>
            </a:br>
            <a:r>
              <a:rPr lang="en-US"/>
              <a:t>Linking these allocations with efficiency metrics helps ensure funds are not only well-intentioned, but well-deployed.”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349-1823-1848-B1F2-3D74ADFCD9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830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“Based on our analysis, we propose a simple, scalable framework.</a:t>
            </a:r>
          </a:p>
          <a:p>
            <a:r>
              <a:rPr lang="en-US"/>
              <a:t>First, compute cost per beneficiary for all projects.</a:t>
            </a:r>
            <a:br>
              <a:rPr lang="en-US"/>
            </a:br>
            <a:r>
              <a:rPr lang="en-US"/>
              <a:t>Second, normalize using log scaling and flag statistical outliers.</a:t>
            </a:r>
            <a:br>
              <a:rPr lang="en-US"/>
            </a:br>
            <a:r>
              <a:rPr lang="en-US"/>
              <a:t>Third, compare efficiency across clusters, regions, and time.</a:t>
            </a:r>
          </a:p>
          <a:p>
            <a:r>
              <a:rPr lang="en-US"/>
              <a:t>This framework is transparent, data-light, and adaptable.”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349-1823-1848-B1F2-3D74ADFCD9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9778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“To conclude, our framework enables evidence-based monitoring of humanitarian efficiency.</a:t>
            </a:r>
          </a:p>
          <a:p>
            <a:r>
              <a:rPr lang="en-US"/>
              <a:t>It supports transparency, accountability, and adaptive allocation — without oversimplifying complex realities.</a:t>
            </a:r>
          </a:p>
          <a:p>
            <a:r>
              <a:rPr lang="en-US"/>
              <a:t>Most importantly, it helps ensure that every humanitarian dollar reaches as many people as possible, as effectively as possible.</a:t>
            </a:r>
            <a:br>
              <a:rPr lang="en-US"/>
            </a:br>
            <a:r>
              <a:rPr lang="en-US"/>
              <a:t>Thank you.”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349-1823-1848-B1F2-3D74ADFCD93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57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13-Mar-26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2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5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9.jpe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3467" y="-395116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Evaluating Efficiency in Humanitarian Funding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467" y="3558647"/>
            <a:ext cx="4620584" cy="775494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000" dirty="0"/>
              <a:t>A Data-Driven Framework for Monitoring Humanitarian Spending Efficiency</a:t>
            </a:r>
          </a:p>
        </p:txBody>
      </p:sp>
      <p:pic>
        <p:nvPicPr>
          <p:cNvPr id="5" name="Picture 4" descr="Old wrinkled hands with some coins">
            <a:extLst>
              <a:ext uri="{FF2B5EF4-FFF2-40B4-BE49-F238E27FC236}">
                <a16:creationId xmlns:a16="http://schemas.microsoft.com/office/drawing/2014/main" id="{03BD7219-526A-F3F2-D460-EB14F239B3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36" r="31426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B8F1B4-5BAD-7D31-6443-77C6C4105720}"/>
              </a:ext>
            </a:extLst>
          </p:cNvPr>
          <p:cNvSpPr txBox="1"/>
          <p:nvPr/>
        </p:nvSpPr>
        <p:spPr>
          <a:xfrm>
            <a:off x="643467" y="5463822"/>
            <a:ext cx="4064000" cy="857956"/>
          </a:xfrm>
          <a:prstGeom prst="rect">
            <a:avLst/>
          </a:prstGeom>
          <a:solidFill>
            <a:srgbClr val="3E413A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0559E1-8CD0-AD46-9972-7B12304847BE}"/>
              </a:ext>
            </a:extLst>
          </p:cNvPr>
          <p:cNvSpPr txBox="1"/>
          <p:nvPr/>
        </p:nvSpPr>
        <p:spPr>
          <a:xfrm>
            <a:off x="643467" y="5550663"/>
            <a:ext cx="503204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solidFill>
                  <a:schemeClr val="bg1"/>
                </a:solidFill>
              </a:rPr>
              <a:t>CMU Datathon 2026 | Team: Storm Breakers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</a:rPr>
              <a:t>Aravindhan Anbazhagan &amp; Mohit </a:t>
            </a:r>
            <a:r>
              <a:rPr lang="en-US" sz="1600" dirty="0" err="1">
                <a:solidFill>
                  <a:schemeClr val="bg1"/>
                </a:solidFill>
              </a:rPr>
              <a:t>Karangutkar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/>
              <a:t>Problem Statement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87A0FE-23A2-BE54-5CBC-F253B18505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893" r="20513" b="-1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A1C81C-CA43-5430-BC1A-9457107886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5800733"/>
              </p:ext>
            </p:extLst>
          </p:nvPr>
        </p:nvGraphicFramePr>
        <p:xfrm>
          <a:off x="744005" y="2240311"/>
          <a:ext cx="6094785" cy="3893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Data &amp; Methodology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99475E-BF27-C438-43C5-0B7535BB24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1181187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Key Findings: Cost per Beneficiary Patterns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E5548E-58F8-95E4-C6DD-CE82D19754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1575383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41" name="Isosceles Triangle 104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0764C0-4A5B-2B56-85E6-277D1337A89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29995"/>
            <a:ext cx="10905066" cy="539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Isosceles Triangle 104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48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65" name="Isosceles Triangle 206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EEC896C-BA4C-D474-EA81-9C3FE156F7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29995"/>
            <a:ext cx="10905066" cy="539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7" name="Isosceles Triangle 206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830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Freeform: Shape 308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89" name="Isosceles Triangle 308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82F87C4-9301-FAFE-A715-A6CD503893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48191" y="643466"/>
            <a:ext cx="9095618" cy="557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1" name="Isosceles Triangle 309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39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3E17859-C5F0-476F-A082-A4CB8841D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/>
          <a:p>
            <a:r>
              <a:rPr lang="en-US"/>
              <a:t>Regional &amp; Cluster Efficiency Comparison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FA424F-0FDF-0A3F-EDED-667162DCF4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250" r="-1" b="-1"/>
          <a:stretch>
            <a:fillRect/>
          </a:stretch>
        </p:blipFill>
        <p:spPr>
          <a:xfrm>
            <a:off x="6848918" y="1771078"/>
            <a:ext cx="4504881" cy="4504881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980527" y="1929807"/>
            <a:ext cx="4556632" cy="455663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0988" y="1969050"/>
            <a:ext cx="666675" cy="64859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33EC87F4-FB8D-D4EE-33F8-5C3420CE62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8359541"/>
              </p:ext>
            </p:extLst>
          </p:nvPr>
        </p:nvGraphicFramePr>
        <p:xfrm>
          <a:off x="838200" y="1825625"/>
          <a:ext cx="474667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55"/>
    </mc:Choice>
    <mc:Fallback xmlns="">
      <p:transition spd="slow" advTm="2075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Content Placeholder 1" descr="A graph of a bar graph&#10;&#10;AI-generated content may be incorrect.">
            <a:extLst>
              <a:ext uri="{FF2B5EF4-FFF2-40B4-BE49-F238E27FC236}">
                <a16:creationId xmlns:a16="http://schemas.microsoft.com/office/drawing/2014/main" id="{4A48F388-0B23-1D86-9183-93105E8E13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4954" y="643467"/>
            <a:ext cx="10462091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7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057"/>
    </mc:Choice>
    <mc:Fallback xmlns="">
      <p:transition spd="slow" advTm="3105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Freeform: Shape 512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5" name="Freeform: Shape 513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137" name="Isosceles Triangle 513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4DB848A-04B9-32D2-AE55-1BFA2EB4FC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920833"/>
            <a:ext cx="10905066" cy="5016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9" name="Isosceles Triangle 513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4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43"/>
    </mc:Choice>
    <mc:Fallback xmlns="">
      <p:transition spd="slow" advTm="2124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Donor Landscape &amp; Global Context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B72CD9-2EDB-680B-7F21-C437E043C5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45" r="19306" b="1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3CCCBC-9DE4-6622-3FAA-8C760698E6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7014876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43"/>
    </mc:Choice>
    <mc:Fallback xmlns="">
      <p:transition spd="slow" advTm="1644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map of the world&#10;&#10;AI-generated content may be incorrect.">
            <a:extLst>
              <a:ext uri="{FF2B5EF4-FFF2-40B4-BE49-F238E27FC236}">
                <a16:creationId xmlns:a16="http://schemas.microsoft.com/office/drawing/2014/main" id="{AEF0BB46-4C4B-0F65-C55E-C528FA54B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1247987"/>
            <a:ext cx="10905066" cy="4362024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3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94"/>
    </mc:Choice>
    <mc:Fallback xmlns="">
      <p:transition spd="slow" advTm="15094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2CFC7A-223C-75B0-2E5C-CE59849D18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3612" y="643466"/>
            <a:ext cx="10364775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1738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89"/>
    </mc:Choice>
    <mc:Fallback xmlns="">
      <p:transition spd="slow" advTm="14989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61B136-BF54-D199-B784-A1A27BE0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819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1" name="Freeform: Shape 820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7" name="Freeform: Shape 820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209" name="Isosceles Triangle 820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8596869-6244-04B4-07DA-48B6FCE558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9798" y="643467"/>
            <a:ext cx="6732403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11" name="Isosceles Triangle 821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640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03"/>
    </mc:Choice>
    <mc:Fallback xmlns="">
      <p:transition spd="slow" advTm="1940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3E17859-C5F0-476F-A082-A4CB8841D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/>
          <a:p>
            <a:r>
              <a:t>Proposed Standardized Framework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ED8008-4E0C-577C-5CF2-8CD94A3124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04" r="7045" b="-1"/>
          <a:stretch>
            <a:fillRect/>
          </a:stretch>
        </p:blipFill>
        <p:spPr>
          <a:xfrm>
            <a:off x="6848918" y="1771078"/>
            <a:ext cx="4504881" cy="4504881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980527" y="1929807"/>
            <a:ext cx="4556632" cy="455663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0988" y="1969050"/>
            <a:ext cx="666675" cy="64859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D06867-D354-96DE-9833-C057554A29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4036442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04"/>
    </mc:Choice>
    <mc:Fallback xmlns="">
      <p:transition spd="slow" advTm="19404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Policy Implications &amp; Conclusion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E9F636D5-9555-8FD4-1942-75CA2966B1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4701838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85"/>
    </mc:Choice>
    <mc:Fallback xmlns="">
      <p:transition spd="slow" advTm="20385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1174</Words>
  <Application>Microsoft Office PowerPoint</Application>
  <PresentationFormat>Widescreen</PresentationFormat>
  <Paragraphs>87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Evaluating Efficiency in Humanitarian Funding</vt:lpstr>
      <vt:lpstr>Problem Statement</vt:lpstr>
      <vt:lpstr>Data &amp; Methodology</vt:lpstr>
      <vt:lpstr>Key Findings: Cost per Beneficiary Patterns</vt:lpstr>
      <vt:lpstr>PowerPoint Presentation</vt:lpstr>
      <vt:lpstr>PowerPoint Presentation</vt:lpstr>
      <vt:lpstr>PowerPoint Presentation</vt:lpstr>
      <vt:lpstr>Regional &amp; Cluster Efficiency Comparison</vt:lpstr>
      <vt:lpstr>PowerPoint Presentation</vt:lpstr>
      <vt:lpstr>PowerPoint Presentation</vt:lpstr>
      <vt:lpstr>Donor Landscape &amp; Global Context</vt:lpstr>
      <vt:lpstr>PowerPoint Presentation</vt:lpstr>
      <vt:lpstr>PowerPoint Presentation</vt:lpstr>
      <vt:lpstr>PowerPoint Presentation</vt:lpstr>
      <vt:lpstr>Proposed Standardized Framework</vt:lpstr>
      <vt:lpstr>Policy Implications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Mohit Karangutkar</cp:lastModifiedBy>
  <cp:revision>19</cp:revision>
  <dcterms:created xsi:type="dcterms:W3CDTF">2013-01-27T09:14:16Z</dcterms:created>
  <dcterms:modified xsi:type="dcterms:W3CDTF">2026-03-13T22:11:38Z</dcterms:modified>
  <cp:category/>
</cp:coreProperties>
</file>